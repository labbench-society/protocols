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59" r:id="rId3"/>
    <p:sldId id="260" r:id="rId4"/>
    <p:sldId id="257" r:id="rId5"/>
    <p:sldId id="262" r:id="rId6"/>
    <p:sldId id="263" r:id="rId7"/>
    <p:sldId id="265" r:id="rId8"/>
    <p:sldId id="266" r:id="rId9"/>
    <p:sldId id="285" r:id="rId10"/>
    <p:sldId id="267" r:id="rId11"/>
    <p:sldId id="268" r:id="rId12"/>
    <p:sldId id="270" r:id="rId13"/>
    <p:sldId id="277" r:id="rId14"/>
    <p:sldId id="281" r:id="rId15"/>
    <p:sldId id="280" r:id="rId16"/>
    <p:sldId id="278" r:id="rId17"/>
    <p:sldId id="276" r:id="rId18"/>
    <p:sldId id="279" r:id="rId19"/>
    <p:sldId id="274" r:id="rId20"/>
    <p:sldId id="282" r:id="rId21"/>
    <p:sldId id="283" r:id="rId22"/>
    <p:sldId id="284" r:id="rId23"/>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69" autoAdjust="0"/>
  </p:normalViewPr>
  <p:slideViewPr>
    <p:cSldViewPr snapToGrid="0">
      <p:cViewPr varScale="1">
        <p:scale>
          <a:sx n="90" d="100"/>
          <a:sy n="90" d="100"/>
        </p:scale>
        <p:origin x="135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646BAE-8E37-4DBA-A74E-0A3DD4A9F90C}" type="datetimeFigureOut">
              <a:rPr lang="en-DK" smtClean="0"/>
              <a:t>22/02/2026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998F9-4E6E-4F05-BAC2-F95D22B0FDB7}" type="slidenum">
              <a:rPr lang="en-DK" smtClean="0"/>
              <a:t>‹#›</a:t>
            </a:fld>
            <a:endParaRPr lang="en-DK"/>
          </a:p>
        </p:txBody>
      </p:sp>
    </p:spTree>
    <p:extLst>
      <p:ext uri="{BB962C8B-B14F-4D97-AF65-F5344CB8AC3E}">
        <p14:creationId xmlns:p14="http://schemas.microsoft.com/office/powerpoint/2010/main" val="969131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1</a:t>
            </a:fld>
            <a:endParaRPr lang="en-DK"/>
          </a:p>
        </p:txBody>
      </p:sp>
    </p:spTree>
    <p:extLst>
      <p:ext uri="{BB962C8B-B14F-4D97-AF65-F5344CB8AC3E}">
        <p14:creationId xmlns:p14="http://schemas.microsoft.com/office/powerpoint/2010/main" val="641287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2</a:t>
            </a:fld>
            <a:endParaRPr lang="en-DK"/>
          </a:p>
        </p:txBody>
      </p:sp>
    </p:spTree>
    <p:extLst>
      <p:ext uri="{BB962C8B-B14F-4D97-AF65-F5344CB8AC3E}">
        <p14:creationId xmlns:p14="http://schemas.microsoft.com/office/powerpoint/2010/main" val="967489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3</a:t>
            </a:fld>
            <a:endParaRPr lang="en-DK"/>
          </a:p>
        </p:txBody>
      </p:sp>
    </p:spTree>
    <p:extLst>
      <p:ext uri="{BB962C8B-B14F-4D97-AF65-F5344CB8AC3E}">
        <p14:creationId xmlns:p14="http://schemas.microsoft.com/office/powerpoint/2010/main" val="321080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Figure3</a:t>
            </a:r>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4</a:t>
            </a:fld>
            <a:endParaRPr lang="en-DK"/>
          </a:p>
        </p:txBody>
      </p:sp>
    </p:spTree>
    <p:extLst>
      <p:ext uri="{BB962C8B-B14F-4D97-AF65-F5344CB8AC3E}">
        <p14:creationId xmlns:p14="http://schemas.microsoft.com/office/powerpoint/2010/main" val="3496583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12</a:t>
            </a:fld>
            <a:endParaRPr lang="en-DK"/>
          </a:p>
        </p:txBody>
      </p:sp>
    </p:spTree>
    <p:extLst>
      <p:ext uri="{BB962C8B-B14F-4D97-AF65-F5344CB8AC3E}">
        <p14:creationId xmlns:p14="http://schemas.microsoft.com/office/powerpoint/2010/main" val="1691931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19</a:t>
            </a:fld>
            <a:endParaRPr lang="en-DK"/>
          </a:p>
        </p:txBody>
      </p:sp>
    </p:spTree>
    <p:extLst>
      <p:ext uri="{BB962C8B-B14F-4D97-AF65-F5344CB8AC3E}">
        <p14:creationId xmlns:p14="http://schemas.microsoft.com/office/powerpoint/2010/main" val="32005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Table1</a:t>
            </a:r>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20</a:t>
            </a:fld>
            <a:endParaRPr lang="en-DK"/>
          </a:p>
        </p:txBody>
      </p:sp>
    </p:spTree>
    <p:extLst>
      <p:ext uri="{BB962C8B-B14F-4D97-AF65-F5344CB8AC3E}">
        <p14:creationId xmlns:p14="http://schemas.microsoft.com/office/powerpoint/2010/main" val="273950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a:t>
            </a:r>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21</a:t>
            </a:fld>
            <a:endParaRPr lang="en-DK"/>
          </a:p>
        </p:txBody>
      </p:sp>
    </p:spTree>
    <p:extLst>
      <p:ext uri="{BB962C8B-B14F-4D97-AF65-F5344CB8AC3E}">
        <p14:creationId xmlns:p14="http://schemas.microsoft.com/office/powerpoint/2010/main" val="3358555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a:t>
            </a:r>
            <a:endParaRPr lang="en-DK" dirty="0"/>
          </a:p>
        </p:txBody>
      </p:sp>
      <p:sp>
        <p:nvSpPr>
          <p:cNvPr id="4" name="Slide Number Placeholder 3"/>
          <p:cNvSpPr>
            <a:spLocks noGrp="1"/>
          </p:cNvSpPr>
          <p:nvPr>
            <p:ph type="sldNum" sz="quarter" idx="5"/>
          </p:nvPr>
        </p:nvSpPr>
        <p:spPr/>
        <p:txBody>
          <a:bodyPr/>
          <a:lstStyle/>
          <a:p>
            <a:fld id="{013998F9-4E6E-4F05-BAC2-F95D22B0FDB7}" type="slidenum">
              <a:rPr lang="en-DK" smtClean="0"/>
              <a:t>22</a:t>
            </a:fld>
            <a:endParaRPr lang="en-DK"/>
          </a:p>
        </p:txBody>
      </p:sp>
    </p:spTree>
    <p:extLst>
      <p:ext uri="{BB962C8B-B14F-4D97-AF65-F5344CB8AC3E}">
        <p14:creationId xmlns:p14="http://schemas.microsoft.com/office/powerpoint/2010/main" val="1174334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169B7-B588-E9B9-CA5B-D185B8208C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B5FD76EC-7393-3CFE-FB47-F211252C68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6FACB2FE-76C1-45DB-84B9-FC367C040719}"/>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4D611613-85F1-678D-FDD8-16D2552C3862}"/>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6210AE8-BC11-A931-8B80-2AA979857C31}"/>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126136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7EF2E-5A99-0B4B-C776-EE7E26C7B325}"/>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CB6FA82F-BAC1-3472-70CC-C45038E6AA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6416AA6C-E0AF-50BE-5D4E-EFF959BA8DE7}"/>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E34196FB-40CE-1BAE-E79F-5DA998F1E0ED}"/>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E369AE67-F47E-CBC6-7078-F4954551BE1A}"/>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2067547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7DAB0-96E7-69AB-FAE6-66157335B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43DF399B-00E1-0428-B48B-9B51F9B875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2DFA69-0E9E-EEA9-5E12-CD154261E2DE}"/>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3AFB1B9A-9D46-BBFE-5380-463B17C7716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DA0BD483-1C48-01F1-19B2-5C6023B1171A}"/>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313558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4799-99DB-BDAB-223B-B364CECF3A8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B5B99762-E999-B645-A8DF-4F4A361FC5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D4BB226B-BBA1-E9BE-5E35-8E4CAE730C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8AFF54D6-2004-B08B-3C23-0B8A8A4F41CA}"/>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6" name="Footer Placeholder 5">
            <a:extLst>
              <a:ext uri="{FF2B5EF4-FFF2-40B4-BE49-F238E27FC236}">
                <a16:creationId xmlns:a16="http://schemas.microsoft.com/office/drawing/2014/main" id="{85A9FFCD-2789-E995-5DE6-AA15951CE6CF}"/>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1FE43F4-AAE0-7A1D-0AA5-3E34A693E07F}"/>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337462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6076-13CB-D9C5-687F-343863505642}"/>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8C5BC97A-DD69-72B1-C1F7-1EC30A289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028172-B237-6282-EBB7-86EBF6B10A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50999E65-8408-8829-7E1E-6DEC77113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FA2B83-AEE3-0952-08C8-1F793A43FE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43F4CF71-DDAE-EE71-3DFF-3987B01DCD0D}"/>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8" name="Footer Placeholder 7">
            <a:extLst>
              <a:ext uri="{FF2B5EF4-FFF2-40B4-BE49-F238E27FC236}">
                <a16:creationId xmlns:a16="http://schemas.microsoft.com/office/drawing/2014/main" id="{D2D6E7F5-0521-1356-97CB-3C2A6B2DCC43}"/>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31AFC252-6302-5141-B886-0CAF9EF683E1}"/>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636271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FAC28-1E60-6FC1-038B-3CF6BDED0A3C}"/>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1CE75ED3-86F7-942D-5E6E-4BD5222D6C1A}"/>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4" name="Footer Placeholder 3">
            <a:extLst>
              <a:ext uri="{FF2B5EF4-FFF2-40B4-BE49-F238E27FC236}">
                <a16:creationId xmlns:a16="http://schemas.microsoft.com/office/drawing/2014/main" id="{26F33A24-5277-54F6-CCFA-74E2E8567854}"/>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54FD143B-E3EA-473A-2EB2-CC9B857D044C}"/>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1984069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41828E-4B38-81FA-573C-A5A9A7FAE80D}"/>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3" name="Footer Placeholder 2">
            <a:extLst>
              <a:ext uri="{FF2B5EF4-FFF2-40B4-BE49-F238E27FC236}">
                <a16:creationId xmlns:a16="http://schemas.microsoft.com/office/drawing/2014/main" id="{F7CAF602-7CFB-CD68-EE40-C32F547FB926}"/>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2B320DF5-7D00-06A0-BD50-B340429EFD77}"/>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3276446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177C-5238-FC01-0F23-BBC3EA1FE1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5537AB7B-1112-F608-A041-EF4BD0CF6C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5B58359D-4313-87B0-D18D-8736457000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8B0703-7FF3-70BD-AA8B-B45BDFB4C2AA}"/>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6" name="Footer Placeholder 5">
            <a:extLst>
              <a:ext uri="{FF2B5EF4-FFF2-40B4-BE49-F238E27FC236}">
                <a16:creationId xmlns:a16="http://schemas.microsoft.com/office/drawing/2014/main" id="{01260159-C83C-7FF4-CF1A-7A1672BC6241}"/>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E2426760-C500-C698-F171-C15F58E31853}"/>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2428510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C511-09D9-D511-AF56-432990CDE0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34AE1018-FAFE-A3E9-261C-FE20D1F1A1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CF7E977C-EB26-7D0C-96F4-C07CEFF93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BD5BE-1C2B-F9EC-7580-2F1B025F7EA5}"/>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6" name="Footer Placeholder 5">
            <a:extLst>
              <a:ext uri="{FF2B5EF4-FFF2-40B4-BE49-F238E27FC236}">
                <a16:creationId xmlns:a16="http://schemas.microsoft.com/office/drawing/2014/main" id="{FF324779-9E54-9D6C-0ADC-02F602D38A12}"/>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333165E-FFAC-BA90-3035-E7AEF32A56F6}"/>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123491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4AE4-EE86-277D-145C-CF2F8F9157D7}"/>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6C768724-7864-E38E-DDFD-7AACF763A4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28F93917-2A15-116C-BD6E-CEAB2E69A269}"/>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C8509942-75C0-9620-6634-D965CB35BD6F}"/>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01414B6E-1B64-20B0-8A06-357AB30260B4}"/>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3544190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82C897-EBDE-51B2-79C0-345FA0CFA4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4AF1372C-6772-E19B-9309-2E750C7D33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1F3D3A25-FC17-6473-9522-A2B053DC6B44}"/>
              </a:ext>
            </a:extLst>
          </p:cNvPr>
          <p:cNvSpPr>
            <a:spLocks noGrp="1"/>
          </p:cNvSpPr>
          <p:nvPr>
            <p:ph type="dt" sz="half" idx="10"/>
          </p:nvPr>
        </p:nvSpPr>
        <p:spPr/>
        <p:txBody>
          <a:body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BF7EFF3E-FEC2-B12D-2A01-056CB18D6EA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C7ECD55E-F83C-FFA2-7F6C-8656E353CB5A}"/>
              </a:ext>
            </a:extLst>
          </p:cNvPr>
          <p:cNvSpPr>
            <a:spLocks noGrp="1"/>
          </p:cNvSpPr>
          <p:nvPr>
            <p:ph type="sldNum" sz="quarter" idx="12"/>
          </p:nvPr>
        </p:nvSpPr>
        <p:spPr/>
        <p:txBody>
          <a:bodyPr/>
          <a:lstStyle/>
          <a:p>
            <a:fld id="{0850C209-2000-47AF-A9C9-620C4674515D}" type="slidenum">
              <a:rPr lang="en-DK" smtClean="0"/>
              <a:t>‹#›</a:t>
            </a:fld>
            <a:endParaRPr lang="en-DK"/>
          </a:p>
        </p:txBody>
      </p:sp>
    </p:spTree>
    <p:extLst>
      <p:ext uri="{BB962C8B-B14F-4D97-AF65-F5344CB8AC3E}">
        <p14:creationId xmlns:p14="http://schemas.microsoft.com/office/powerpoint/2010/main" val="4019683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188A7E-E0EE-9DE1-D7B9-224227187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D443A109-F906-DF3E-D24E-387BA68C2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AAA8E0FC-582E-2F35-2F8B-1DF2320007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C52B10-47AD-4490-8483-919970C343B2}" type="datetimeFigureOut">
              <a:rPr lang="en-DK" smtClean="0"/>
              <a:t>22/02/2026</a:t>
            </a:fld>
            <a:endParaRPr lang="en-DK"/>
          </a:p>
        </p:txBody>
      </p:sp>
      <p:sp>
        <p:nvSpPr>
          <p:cNvPr id="5" name="Footer Placeholder 4">
            <a:extLst>
              <a:ext uri="{FF2B5EF4-FFF2-40B4-BE49-F238E27FC236}">
                <a16:creationId xmlns:a16="http://schemas.microsoft.com/office/drawing/2014/main" id="{BE21FBE8-4787-E7A4-42C5-07E82A5CE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A5E6BE42-1467-A83F-D544-ABD7C2F2D2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50C209-2000-47AF-A9C9-620C4674515D}" type="slidenum">
              <a:rPr lang="en-DK" smtClean="0"/>
              <a:t>‹#›</a:t>
            </a:fld>
            <a:endParaRPr lang="en-DK"/>
          </a:p>
        </p:txBody>
      </p:sp>
    </p:spTree>
    <p:extLst>
      <p:ext uri="{BB962C8B-B14F-4D97-AF65-F5344CB8AC3E}">
        <p14:creationId xmlns:p14="http://schemas.microsoft.com/office/powerpoint/2010/main" val="3136549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CB696F-F744-2CBB-1DDC-C7D4D0C962C8}"/>
              </a:ext>
            </a:extLst>
          </p:cNvPr>
          <p:cNvPicPr>
            <a:picLocks noChangeAspect="1"/>
          </p:cNvPicPr>
          <p:nvPr/>
        </p:nvPicPr>
        <p:blipFill>
          <a:blip r:embed="rId3"/>
          <a:stretch>
            <a:fillRect/>
          </a:stretch>
        </p:blipFill>
        <p:spPr>
          <a:xfrm>
            <a:off x="2496000" y="1672052"/>
            <a:ext cx="7200000" cy="3249635"/>
          </a:xfrm>
          <a:prstGeom prst="rect">
            <a:avLst/>
          </a:prstGeom>
        </p:spPr>
      </p:pic>
    </p:spTree>
    <p:extLst>
      <p:ext uri="{BB962C8B-B14F-4D97-AF65-F5344CB8AC3E}">
        <p14:creationId xmlns:p14="http://schemas.microsoft.com/office/powerpoint/2010/main" val="4086865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The image shows a user interface of the LabBench Designer software, detailing various devices and protocols, including I/O devices, a stimulator, generator, detector, buttons, scales, and specific protocols like Nocitech CPAR and Pressure Algometer.&#10;&#10;AI-generated content may be incorrect.">
            <a:extLst>
              <a:ext uri="{FF2B5EF4-FFF2-40B4-BE49-F238E27FC236}">
                <a16:creationId xmlns:a16="http://schemas.microsoft.com/office/drawing/2014/main" id="{1DD0ED16-7994-742B-79B2-251A67086A46}"/>
              </a:ext>
            </a:extLst>
          </p:cNvPr>
          <p:cNvPicPr>
            <a:picLocks noChangeAspect="1"/>
          </p:cNvPicPr>
          <p:nvPr/>
        </p:nvPicPr>
        <p:blipFill>
          <a:blip r:embed="rId3"/>
          <a:stretch>
            <a:fillRect/>
          </a:stretch>
        </p:blipFill>
        <p:spPr>
          <a:xfrm>
            <a:off x="1799777" y="2101356"/>
            <a:ext cx="7896223" cy="3079940"/>
          </a:xfrm>
          <a:prstGeom prst="rect">
            <a:avLst/>
          </a:prstGeom>
        </p:spPr>
      </p:pic>
      <p:sp>
        <p:nvSpPr>
          <p:cNvPr id="4" name="TextBox 3">
            <a:extLst>
              <a:ext uri="{FF2B5EF4-FFF2-40B4-BE49-F238E27FC236}">
                <a16:creationId xmlns:a16="http://schemas.microsoft.com/office/drawing/2014/main" id="{3C45FB33-18D0-A4F8-6866-A0E147A64658}"/>
              </a:ext>
            </a:extLst>
          </p:cNvPr>
          <p:cNvSpPr txBox="1"/>
          <p:nvPr/>
        </p:nvSpPr>
        <p:spPr>
          <a:xfrm>
            <a:off x="72390" y="1449633"/>
            <a:ext cx="2822696" cy="400110"/>
          </a:xfrm>
          <a:prstGeom prst="rect">
            <a:avLst/>
          </a:prstGeom>
          <a:noFill/>
        </p:spPr>
        <p:txBody>
          <a:bodyPr wrap="none" rtlCol="0">
            <a:spAutoFit/>
          </a:bodyPr>
          <a:lstStyle/>
          <a:p>
            <a:r>
              <a:rPr lang="en-GB" sz="2000" dirty="0"/>
              <a:t>Select the Devices page</a:t>
            </a:r>
            <a:endParaRPr lang="en-DK" sz="2000" dirty="0"/>
          </a:p>
        </p:txBody>
      </p:sp>
      <p:sp>
        <p:nvSpPr>
          <p:cNvPr id="5" name="TextBox 4">
            <a:extLst>
              <a:ext uri="{FF2B5EF4-FFF2-40B4-BE49-F238E27FC236}">
                <a16:creationId xmlns:a16="http://schemas.microsoft.com/office/drawing/2014/main" id="{77025DC6-04CF-5298-1293-BB5D199C30D4}"/>
              </a:ext>
            </a:extLst>
          </p:cNvPr>
          <p:cNvSpPr txBox="1"/>
          <p:nvPr/>
        </p:nvSpPr>
        <p:spPr>
          <a:xfrm>
            <a:off x="1870356" y="997965"/>
            <a:ext cx="4120487" cy="400110"/>
          </a:xfrm>
          <a:prstGeom prst="rect">
            <a:avLst/>
          </a:prstGeom>
          <a:noFill/>
        </p:spPr>
        <p:txBody>
          <a:bodyPr wrap="none" rtlCol="0">
            <a:spAutoFit/>
          </a:bodyPr>
          <a:lstStyle/>
          <a:p>
            <a:r>
              <a:rPr lang="en-GB" sz="2000" dirty="0"/>
              <a:t>Select the type of instrument to add</a:t>
            </a:r>
            <a:endParaRPr lang="en-DK" sz="2000" dirty="0"/>
          </a:p>
        </p:txBody>
      </p:sp>
      <p:sp>
        <p:nvSpPr>
          <p:cNvPr id="6" name="TextBox 5">
            <a:extLst>
              <a:ext uri="{FF2B5EF4-FFF2-40B4-BE49-F238E27FC236}">
                <a16:creationId xmlns:a16="http://schemas.microsoft.com/office/drawing/2014/main" id="{0571233D-8F88-1B74-0657-50D5678FF591}"/>
              </a:ext>
            </a:extLst>
          </p:cNvPr>
          <p:cNvSpPr txBox="1"/>
          <p:nvPr/>
        </p:nvSpPr>
        <p:spPr>
          <a:xfrm>
            <a:off x="7565291" y="1434368"/>
            <a:ext cx="3719095" cy="400110"/>
          </a:xfrm>
          <a:prstGeom prst="rect">
            <a:avLst/>
          </a:prstGeom>
          <a:noFill/>
        </p:spPr>
        <p:txBody>
          <a:bodyPr wrap="none" rtlCol="0">
            <a:spAutoFit/>
          </a:bodyPr>
          <a:lstStyle/>
          <a:p>
            <a:r>
              <a:rPr lang="en-GB" sz="2000" dirty="0"/>
              <a:t>Click the “Scan and add” button</a:t>
            </a:r>
            <a:endParaRPr lang="en-DK" sz="2000" dirty="0"/>
          </a:p>
        </p:txBody>
      </p:sp>
      <p:sp>
        <p:nvSpPr>
          <p:cNvPr id="7" name="Oval 6">
            <a:extLst>
              <a:ext uri="{FF2B5EF4-FFF2-40B4-BE49-F238E27FC236}">
                <a16:creationId xmlns:a16="http://schemas.microsoft.com/office/drawing/2014/main" id="{232BB1D5-4CE1-D31B-EFF3-D2191702C9B7}"/>
              </a:ext>
            </a:extLst>
          </p:cNvPr>
          <p:cNvSpPr/>
          <p:nvPr/>
        </p:nvSpPr>
        <p:spPr>
          <a:xfrm>
            <a:off x="9262839" y="2534901"/>
            <a:ext cx="324000" cy="32400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Rectangle 7">
            <a:extLst>
              <a:ext uri="{FF2B5EF4-FFF2-40B4-BE49-F238E27FC236}">
                <a16:creationId xmlns:a16="http://schemas.microsoft.com/office/drawing/2014/main" id="{F457FAC5-6A63-900B-055D-BD54C3F7329C}"/>
              </a:ext>
            </a:extLst>
          </p:cNvPr>
          <p:cNvSpPr/>
          <p:nvPr/>
        </p:nvSpPr>
        <p:spPr>
          <a:xfrm>
            <a:off x="2555776" y="2707640"/>
            <a:ext cx="2749649" cy="9810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BD78DE58-2EC5-FF5F-6C3E-2AAA0B3E3AA7}"/>
              </a:ext>
            </a:extLst>
          </p:cNvPr>
          <p:cNvSpPr/>
          <p:nvPr/>
        </p:nvSpPr>
        <p:spPr>
          <a:xfrm>
            <a:off x="1786138" y="3004692"/>
            <a:ext cx="756000" cy="68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1" name="Straight Arrow Connector 10">
            <a:extLst>
              <a:ext uri="{FF2B5EF4-FFF2-40B4-BE49-F238E27FC236}">
                <a16:creationId xmlns:a16="http://schemas.microsoft.com/office/drawing/2014/main" id="{962CE354-5242-3880-478E-47F0C6CFD697}"/>
              </a:ext>
            </a:extLst>
          </p:cNvPr>
          <p:cNvCxnSpPr>
            <a:cxnSpLocks/>
            <a:stCxn id="5" idx="2"/>
            <a:endCxn id="8" idx="0"/>
          </p:cNvCxnSpPr>
          <p:nvPr/>
        </p:nvCxnSpPr>
        <p:spPr>
          <a:xfrm>
            <a:off x="3930600" y="1398075"/>
            <a:ext cx="1" cy="130956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E7A65C9-1BF1-81F4-8452-E8CC8363DA44}"/>
              </a:ext>
            </a:extLst>
          </p:cNvPr>
          <p:cNvCxnSpPr>
            <a:cxnSpLocks/>
            <a:stCxn id="6" idx="2"/>
            <a:endCxn id="7" idx="0"/>
          </p:cNvCxnSpPr>
          <p:nvPr/>
        </p:nvCxnSpPr>
        <p:spPr>
          <a:xfrm>
            <a:off x="9424839" y="1834478"/>
            <a:ext cx="0" cy="70042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6C97768A-12CE-D54C-AD71-8F0287FC8F31}"/>
              </a:ext>
            </a:extLst>
          </p:cNvPr>
          <p:cNvCxnSpPr>
            <a:cxnSpLocks/>
            <a:stCxn id="4" idx="2"/>
            <a:endCxn id="9" idx="1"/>
          </p:cNvCxnSpPr>
          <p:nvPr/>
        </p:nvCxnSpPr>
        <p:spPr>
          <a:xfrm rot="16200000" flipH="1">
            <a:off x="886464" y="2447017"/>
            <a:ext cx="1496949" cy="302400"/>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773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lose&#10;&#10;AI-generated content may be incorrect.">
            <a:extLst>
              <a:ext uri="{FF2B5EF4-FFF2-40B4-BE49-F238E27FC236}">
                <a16:creationId xmlns:a16="http://schemas.microsoft.com/office/drawing/2014/main" id="{25298A45-5B12-1C64-74F3-04EC4D38C659}"/>
              </a:ext>
            </a:extLst>
          </p:cNvPr>
          <p:cNvPicPr>
            <a:picLocks noChangeAspect="1"/>
          </p:cNvPicPr>
          <p:nvPr/>
        </p:nvPicPr>
        <p:blipFill>
          <a:blip r:embed="rId3"/>
          <a:stretch>
            <a:fillRect/>
          </a:stretch>
        </p:blipFill>
        <p:spPr>
          <a:xfrm>
            <a:off x="3333750" y="2169098"/>
            <a:ext cx="5391150" cy="2999640"/>
          </a:xfrm>
          <a:prstGeom prst="rect">
            <a:avLst/>
          </a:prstGeom>
        </p:spPr>
      </p:pic>
      <p:sp>
        <p:nvSpPr>
          <p:cNvPr id="4" name="TextBox 3">
            <a:extLst>
              <a:ext uri="{FF2B5EF4-FFF2-40B4-BE49-F238E27FC236}">
                <a16:creationId xmlns:a16="http://schemas.microsoft.com/office/drawing/2014/main" id="{DB5557D0-1BDF-1B54-12C5-A466413011A6}"/>
              </a:ext>
            </a:extLst>
          </p:cNvPr>
          <p:cNvSpPr txBox="1"/>
          <p:nvPr/>
        </p:nvSpPr>
        <p:spPr>
          <a:xfrm>
            <a:off x="6727492" y="1505934"/>
            <a:ext cx="3499099" cy="400110"/>
          </a:xfrm>
          <a:prstGeom prst="rect">
            <a:avLst/>
          </a:prstGeom>
          <a:noFill/>
        </p:spPr>
        <p:txBody>
          <a:bodyPr wrap="none" rtlCol="0">
            <a:spAutoFit/>
          </a:bodyPr>
          <a:lstStyle/>
          <a:p>
            <a:r>
              <a:rPr lang="en-GB" sz="2000" dirty="0"/>
              <a:t>“Scan all connections” button</a:t>
            </a:r>
            <a:endParaRPr lang="en-DK" sz="2000" dirty="0"/>
          </a:p>
        </p:txBody>
      </p:sp>
      <p:sp>
        <p:nvSpPr>
          <p:cNvPr id="5" name="Oval 4">
            <a:extLst>
              <a:ext uri="{FF2B5EF4-FFF2-40B4-BE49-F238E27FC236}">
                <a16:creationId xmlns:a16="http://schemas.microsoft.com/office/drawing/2014/main" id="{3D629135-AA64-96F3-F112-368D354F66D5}"/>
              </a:ext>
            </a:extLst>
          </p:cNvPr>
          <p:cNvSpPr/>
          <p:nvPr/>
        </p:nvSpPr>
        <p:spPr>
          <a:xfrm>
            <a:off x="8351042" y="2445319"/>
            <a:ext cx="252000" cy="25200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 name="Straight Arrow Connector 5">
            <a:extLst>
              <a:ext uri="{FF2B5EF4-FFF2-40B4-BE49-F238E27FC236}">
                <a16:creationId xmlns:a16="http://schemas.microsoft.com/office/drawing/2014/main" id="{E21D3756-85C1-533F-F105-ECC822124311}"/>
              </a:ext>
            </a:extLst>
          </p:cNvPr>
          <p:cNvCxnSpPr>
            <a:cxnSpLocks/>
            <a:stCxn id="4" idx="2"/>
            <a:endCxn id="5" idx="0"/>
          </p:cNvCxnSpPr>
          <p:nvPr/>
        </p:nvCxnSpPr>
        <p:spPr>
          <a:xfrm>
            <a:off x="8477042" y="1906044"/>
            <a:ext cx="0" cy="53927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DF7DD104-1D9E-9FDA-C600-8EF4A8FE48DE}"/>
              </a:ext>
            </a:extLst>
          </p:cNvPr>
          <p:cNvSpPr/>
          <p:nvPr/>
        </p:nvSpPr>
        <p:spPr>
          <a:xfrm>
            <a:off x="8260750" y="2867062"/>
            <a:ext cx="342292" cy="252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8" name="Connector: Elbow 7">
            <a:extLst>
              <a:ext uri="{FF2B5EF4-FFF2-40B4-BE49-F238E27FC236}">
                <a16:creationId xmlns:a16="http://schemas.microsoft.com/office/drawing/2014/main" id="{BFBBA733-5582-69EF-D56E-BA210F594960}"/>
              </a:ext>
            </a:extLst>
          </p:cNvPr>
          <p:cNvCxnSpPr>
            <a:cxnSpLocks/>
            <a:stCxn id="11" idx="0"/>
            <a:endCxn id="7" idx="3"/>
          </p:cNvCxnSpPr>
          <p:nvPr/>
        </p:nvCxnSpPr>
        <p:spPr>
          <a:xfrm rot="16200000" flipV="1">
            <a:off x="7640515" y="3955590"/>
            <a:ext cx="2345419" cy="420363"/>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65925CD-094E-E10A-0136-D7E843D9B1FC}"/>
              </a:ext>
            </a:extLst>
          </p:cNvPr>
          <p:cNvSpPr txBox="1"/>
          <p:nvPr/>
        </p:nvSpPr>
        <p:spPr>
          <a:xfrm>
            <a:off x="7499205" y="5338481"/>
            <a:ext cx="3048399" cy="400110"/>
          </a:xfrm>
          <a:prstGeom prst="rect">
            <a:avLst/>
          </a:prstGeom>
          <a:noFill/>
        </p:spPr>
        <p:txBody>
          <a:bodyPr wrap="none" rtlCol="0">
            <a:spAutoFit/>
          </a:bodyPr>
          <a:lstStyle/>
          <a:p>
            <a:r>
              <a:rPr lang="en-GB" sz="2000" dirty="0"/>
              <a:t>“Scan connection” button</a:t>
            </a:r>
            <a:endParaRPr lang="en-DK" sz="2000" dirty="0"/>
          </a:p>
        </p:txBody>
      </p:sp>
    </p:spTree>
    <p:extLst>
      <p:ext uri="{BB962C8B-B14F-4D97-AF65-F5344CB8AC3E}">
        <p14:creationId xmlns:p14="http://schemas.microsoft.com/office/powerpoint/2010/main" val="2212373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66E3D05-812C-3265-45DD-82E887021D38}"/>
              </a:ext>
            </a:extLst>
          </p:cNvPr>
          <p:cNvPicPr>
            <a:picLocks noChangeAspect="1"/>
          </p:cNvPicPr>
          <p:nvPr/>
        </p:nvPicPr>
        <p:blipFill>
          <a:blip r:embed="rId3"/>
          <a:stretch>
            <a:fillRect/>
          </a:stretch>
        </p:blipFill>
        <p:spPr>
          <a:xfrm>
            <a:off x="2379459" y="1658465"/>
            <a:ext cx="6909942" cy="3916990"/>
          </a:xfrm>
          <a:prstGeom prst="rect">
            <a:avLst/>
          </a:prstGeom>
        </p:spPr>
      </p:pic>
      <p:sp>
        <p:nvSpPr>
          <p:cNvPr id="2" name="TextBox 1">
            <a:extLst>
              <a:ext uri="{FF2B5EF4-FFF2-40B4-BE49-F238E27FC236}">
                <a16:creationId xmlns:a16="http://schemas.microsoft.com/office/drawing/2014/main" id="{6677FA99-0C13-9DE5-5A67-9AB4806EC1D7}"/>
              </a:ext>
            </a:extLst>
          </p:cNvPr>
          <p:cNvSpPr txBox="1"/>
          <p:nvPr/>
        </p:nvSpPr>
        <p:spPr>
          <a:xfrm>
            <a:off x="7116198" y="1037472"/>
            <a:ext cx="3883179" cy="400110"/>
          </a:xfrm>
          <a:prstGeom prst="rect">
            <a:avLst/>
          </a:prstGeom>
          <a:noFill/>
        </p:spPr>
        <p:txBody>
          <a:bodyPr wrap="none" rtlCol="0">
            <a:spAutoFit/>
          </a:bodyPr>
          <a:lstStyle/>
          <a:p>
            <a:r>
              <a:rPr lang="en-GB" sz="2000" dirty="0"/>
              <a:t>Click the “Install protocol” button</a:t>
            </a:r>
            <a:endParaRPr lang="en-DK" sz="2000" dirty="0"/>
          </a:p>
        </p:txBody>
      </p:sp>
      <p:sp>
        <p:nvSpPr>
          <p:cNvPr id="4" name="Oval 3">
            <a:extLst>
              <a:ext uri="{FF2B5EF4-FFF2-40B4-BE49-F238E27FC236}">
                <a16:creationId xmlns:a16="http://schemas.microsoft.com/office/drawing/2014/main" id="{1DC4B956-6C96-8B5F-4195-D0FD1B8DF5B8}"/>
              </a:ext>
            </a:extLst>
          </p:cNvPr>
          <p:cNvSpPr/>
          <p:nvPr/>
        </p:nvSpPr>
        <p:spPr>
          <a:xfrm>
            <a:off x="8931788" y="2027419"/>
            <a:ext cx="252000" cy="25200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5" name="Straight Arrow Connector 4">
            <a:extLst>
              <a:ext uri="{FF2B5EF4-FFF2-40B4-BE49-F238E27FC236}">
                <a16:creationId xmlns:a16="http://schemas.microsoft.com/office/drawing/2014/main" id="{93E64279-4F6F-8D88-372A-DC5ED4486621}"/>
              </a:ext>
            </a:extLst>
          </p:cNvPr>
          <p:cNvCxnSpPr>
            <a:cxnSpLocks/>
            <a:stCxn id="2" idx="2"/>
            <a:endCxn id="4" idx="0"/>
          </p:cNvCxnSpPr>
          <p:nvPr/>
        </p:nvCxnSpPr>
        <p:spPr>
          <a:xfrm>
            <a:off x="9057788" y="1437582"/>
            <a:ext cx="0" cy="58983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76A0597-FD8A-F512-3A91-EE00B602208C}"/>
              </a:ext>
            </a:extLst>
          </p:cNvPr>
          <p:cNvSpPr txBox="1"/>
          <p:nvPr/>
        </p:nvSpPr>
        <p:spPr>
          <a:xfrm>
            <a:off x="262890" y="1037472"/>
            <a:ext cx="3001591" cy="400110"/>
          </a:xfrm>
          <a:prstGeom prst="rect">
            <a:avLst/>
          </a:prstGeom>
          <a:noFill/>
        </p:spPr>
        <p:txBody>
          <a:bodyPr wrap="none" rtlCol="0">
            <a:spAutoFit/>
          </a:bodyPr>
          <a:lstStyle/>
          <a:p>
            <a:r>
              <a:rPr lang="en-GB" sz="2000" dirty="0"/>
              <a:t>Select the Protocols page</a:t>
            </a:r>
            <a:endParaRPr lang="en-DK" sz="2000" dirty="0"/>
          </a:p>
        </p:txBody>
      </p:sp>
      <p:sp>
        <p:nvSpPr>
          <p:cNvPr id="7" name="Rectangle 6">
            <a:extLst>
              <a:ext uri="{FF2B5EF4-FFF2-40B4-BE49-F238E27FC236}">
                <a16:creationId xmlns:a16="http://schemas.microsoft.com/office/drawing/2014/main" id="{06B6924F-C6A3-DE95-814F-1E6083FCF9AD}"/>
              </a:ext>
            </a:extLst>
          </p:cNvPr>
          <p:cNvSpPr/>
          <p:nvPr/>
        </p:nvSpPr>
        <p:spPr>
          <a:xfrm>
            <a:off x="2388961" y="3000269"/>
            <a:ext cx="640918" cy="5614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8" name="Connector: Elbow 7">
            <a:extLst>
              <a:ext uri="{FF2B5EF4-FFF2-40B4-BE49-F238E27FC236}">
                <a16:creationId xmlns:a16="http://schemas.microsoft.com/office/drawing/2014/main" id="{8714B5E4-9805-1AB1-CDD2-B8EDE472EF7B}"/>
              </a:ext>
            </a:extLst>
          </p:cNvPr>
          <p:cNvCxnSpPr>
            <a:cxnSpLocks/>
            <a:stCxn id="6" idx="2"/>
            <a:endCxn id="7" idx="1"/>
          </p:cNvCxnSpPr>
          <p:nvPr/>
        </p:nvCxnSpPr>
        <p:spPr>
          <a:xfrm rot="16200000" flipH="1">
            <a:off x="1154613" y="2046654"/>
            <a:ext cx="1843421" cy="625275"/>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BDB8B3B-96EE-D52F-0A38-B95A10631AA7}"/>
              </a:ext>
            </a:extLst>
          </p:cNvPr>
          <p:cNvSpPr txBox="1"/>
          <p:nvPr/>
        </p:nvSpPr>
        <p:spPr>
          <a:xfrm>
            <a:off x="1798298" y="466086"/>
            <a:ext cx="4700389" cy="400110"/>
          </a:xfrm>
          <a:prstGeom prst="rect">
            <a:avLst/>
          </a:prstGeom>
          <a:noFill/>
        </p:spPr>
        <p:txBody>
          <a:bodyPr wrap="none" rtlCol="0">
            <a:spAutoFit/>
          </a:bodyPr>
          <a:lstStyle/>
          <a:p>
            <a:r>
              <a:rPr lang="en-GB" sz="2000" dirty="0"/>
              <a:t>Select the LabBench Protocol Repository</a:t>
            </a:r>
            <a:endParaRPr lang="en-DK" sz="2000" dirty="0"/>
          </a:p>
        </p:txBody>
      </p:sp>
      <p:sp>
        <p:nvSpPr>
          <p:cNvPr id="10" name="Rectangle 9">
            <a:extLst>
              <a:ext uri="{FF2B5EF4-FFF2-40B4-BE49-F238E27FC236}">
                <a16:creationId xmlns:a16="http://schemas.microsoft.com/office/drawing/2014/main" id="{6817383C-5401-4FA9-9F50-435DF7DEB2D3}"/>
              </a:ext>
            </a:extLst>
          </p:cNvPr>
          <p:cNvSpPr/>
          <p:nvPr/>
        </p:nvSpPr>
        <p:spPr>
          <a:xfrm>
            <a:off x="3036528" y="2340761"/>
            <a:ext cx="2223930" cy="364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1" name="Straight Arrow Connector 10">
            <a:extLst>
              <a:ext uri="{FF2B5EF4-FFF2-40B4-BE49-F238E27FC236}">
                <a16:creationId xmlns:a16="http://schemas.microsoft.com/office/drawing/2014/main" id="{87C4BC75-E149-F74E-D0E8-5596CE4CD0FB}"/>
              </a:ext>
            </a:extLst>
          </p:cNvPr>
          <p:cNvCxnSpPr>
            <a:cxnSpLocks/>
            <a:stCxn id="9" idx="2"/>
            <a:endCxn id="10" idx="0"/>
          </p:cNvCxnSpPr>
          <p:nvPr/>
        </p:nvCxnSpPr>
        <p:spPr>
          <a:xfrm>
            <a:off x="4148493" y="866196"/>
            <a:ext cx="0" cy="147456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E66900B7-B313-359B-B99E-F96AF9B23241}"/>
              </a:ext>
            </a:extLst>
          </p:cNvPr>
          <p:cNvSpPr/>
          <p:nvPr/>
        </p:nvSpPr>
        <p:spPr>
          <a:xfrm>
            <a:off x="3205180" y="2921659"/>
            <a:ext cx="2132363" cy="4865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TextBox 14">
            <a:extLst>
              <a:ext uri="{FF2B5EF4-FFF2-40B4-BE49-F238E27FC236}">
                <a16:creationId xmlns:a16="http://schemas.microsoft.com/office/drawing/2014/main" id="{924305A6-1AB4-8177-647B-C1EA4453EEE9}"/>
              </a:ext>
            </a:extLst>
          </p:cNvPr>
          <p:cNvSpPr txBox="1"/>
          <p:nvPr/>
        </p:nvSpPr>
        <p:spPr>
          <a:xfrm>
            <a:off x="2396521" y="5791749"/>
            <a:ext cx="3749681" cy="400110"/>
          </a:xfrm>
          <a:prstGeom prst="rect">
            <a:avLst/>
          </a:prstGeom>
          <a:noFill/>
        </p:spPr>
        <p:txBody>
          <a:bodyPr wrap="none" rtlCol="0">
            <a:spAutoFit/>
          </a:bodyPr>
          <a:lstStyle/>
          <a:p>
            <a:r>
              <a:rPr lang="en-GB" sz="2000" dirty="0"/>
              <a:t>Select Introduction to LabBench</a:t>
            </a:r>
            <a:endParaRPr lang="en-DK" sz="2000" dirty="0"/>
          </a:p>
        </p:txBody>
      </p:sp>
      <p:cxnSp>
        <p:nvCxnSpPr>
          <p:cNvPr id="16" name="Straight Arrow Connector 15">
            <a:extLst>
              <a:ext uri="{FF2B5EF4-FFF2-40B4-BE49-F238E27FC236}">
                <a16:creationId xmlns:a16="http://schemas.microsoft.com/office/drawing/2014/main" id="{31090E74-C18F-6FB4-4238-FC8793294D2D}"/>
              </a:ext>
            </a:extLst>
          </p:cNvPr>
          <p:cNvCxnSpPr>
            <a:cxnSpLocks/>
            <a:stCxn id="15" idx="0"/>
            <a:endCxn id="14" idx="2"/>
          </p:cNvCxnSpPr>
          <p:nvPr/>
        </p:nvCxnSpPr>
        <p:spPr>
          <a:xfrm flipV="1">
            <a:off x="4271362" y="3408183"/>
            <a:ext cx="0" cy="238356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474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A7B9E7-9DD2-B775-2F49-D48F10242CB5}"/>
              </a:ext>
            </a:extLst>
          </p:cNvPr>
          <p:cNvPicPr>
            <a:picLocks noChangeAspect="1"/>
          </p:cNvPicPr>
          <p:nvPr/>
        </p:nvPicPr>
        <p:blipFill>
          <a:blip r:embed="rId2"/>
          <a:stretch>
            <a:fillRect/>
          </a:stretch>
        </p:blipFill>
        <p:spPr>
          <a:xfrm>
            <a:off x="1017068" y="1188086"/>
            <a:ext cx="4572638" cy="3029373"/>
          </a:xfrm>
          <a:prstGeom prst="rect">
            <a:avLst/>
          </a:prstGeom>
        </p:spPr>
      </p:pic>
      <p:sp>
        <p:nvSpPr>
          <p:cNvPr id="4" name="TextBox 3">
            <a:extLst>
              <a:ext uri="{FF2B5EF4-FFF2-40B4-BE49-F238E27FC236}">
                <a16:creationId xmlns:a16="http://schemas.microsoft.com/office/drawing/2014/main" id="{48A845C3-F93A-5B59-2F5C-5F94E0007C62}"/>
              </a:ext>
            </a:extLst>
          </p:cNvPr>
          <p:cNvSpPr txBox="1"/>
          <p:nvPr/>
        </p:nvSpPr>
        <p:spPr>
          <a:xfrm>
            <a:off x="5817870" y="1907155"/>
            <a:ext cx="4678268" cy="400110"/>
          </a:xfrm>
          <a:prstGeom prst="rect">
            <a:avLst/>
          </a:prstGeom>
          <a:noFill/>
        </p:spPr>
        <p:txBody>
          <a:bodyPr wrap="none" rtlCol="0">
            <a:spAutoFit/>
          </a:bodyPr>
          <a:lstStyle/>
          <a:p>
            <a:r>
              <a:rPr lang="en-GB" sz="2000" dirty="0"/>
              <a:t>ID of the experiment that must be unique</a:t>
            </a:r>
            <a:endParaRPr lang="en-DK" sz="2000" dirty="0"/>
          </a:p>
        </p:txBody>
      </p:sp>
      <p:sp>
        <p:nvSpPr>
          <p:cNvPr id="5" name="Rectangle 4">
            <a:extLst>
              <a:ext uri="{FF2B5EF4-FFF2-40B4-BE49-F238E27FC236}">
                <a16:creationId xmlns:a16="http://schemas.microsoft.com/office/drawing/2014/main" id="{034337C5-BC39-1C80-37BE-C0E1A131FD86}"/>
              </a:ext>
            </a:extLst>
          </p:cNvPr>
          <p:cNvSpPr/>
          <p:nvPr/>
        </p:nvSpPr>
        <p:spPr>
          <a:xfrm>
            <a:off x="1679402" y="1955686"/>
            <a:ext cx="3795568" cy="364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 name="Straight Arrow Connector 5">
            <a:extLst>
              <a:ext uri="{FF2B5EF4-FFF2-40B4-BE49-F238E27FC236}">
                <a16:creationId xmlns:a16="http://schemas.microsoft.com/office/drawing/2014/main" id="{59D1DC78-C598-3160-5728-D7CE12B13951}"/>
              </a:ext>
            </a:extLst>
          </p:cNvPr>
          <p:cNvCxnSpPr>
            <a:cxnSpLocks/>
          </p:cNvCxnSpPr>
          <p:nvPr/>
        </p:nvCxnSpPr>
        <p:spPr>
          <a:xfrm flipH="1">
            <a:off x="5474970" y="2125980"/>
            <a:ext cx="3429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01AD0939-0692-8BD0-3A1A-B3C68FE184A0}"/>
              </a:ext>
            </a:extLst>
          </p:cNvPr>
          <p:cNvSpPr/>
          <p:nvPr/>
        </p:nvSpPr>
        <p:spPr>
          <a:xfrm>
            <a:off x="1679402" y="2384954"/>
            <a:ext cx="3795568" cy="364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8115D8F7-78F6-3A34-B208-CFDBCF12438C}"/>
              </a:ext>
            </a:extLst>
          </p:cNvPr>
          <p:cNvSpPr/>
          <p:nvPr/>
        </p:nvSpPr>
        <p:spPr>
          <a:xfrm>
            <a:off x="1679402" y="2811386"/>
            <a:ext cx="3795568" cy="364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 name="Rectangle 9">
            <a:extLst>
              <a:ext uri="{FF2B5EF4-FFF2-40B4-BE49-F238E27FC236}">
                <a16:creationId xmlns:a16="http://schemas.microsoft.com/office/drawing/2014/main" id="{EB671691-7505-DF9D-8874-918A137C8066}"/>
              </a:ext>
            </a:extLst>
          </p:cNvPr>
          <p:cNvSpPr/>
          <p:nvPr/>
        </p:nvSpPr>
        <p:spPr>
          <a:xfrm>
            <a:off x="1679402" y="3230381"/>
            <a:ext cx="3795568" cy="364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Rectangle 10">
            <a:extLst>
              <a:ext uri="{FF2B5EF4-FFF2-40B4-BE49-F238E27FC236}">
                <a16:creationId xmlns:a16="http://schemas.microsoft.com/office/drawing/2014/main" id="{A6FE7FBE-DA88-6ACF-509D-592D10C125B0}"/>
              </a:ext>
            </a:extLst>
          </p:cNvPr>
          <p:cNvSpPr/>
          <p:nvPr/>
        </p:nvSpPr>
        <p:spPr>
          <a:xfrm>
            <a:off x="4460702" y="3669319"/>
            <a:ext cx="1014268" cy="42877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5" name="Straight Arrow Connector 14">
            <a:extLst>
              <a:ext uri="{FF2B5EF4-FFF2-40B4-BE49-F238E27FC236}">
                <a16:creationId xmlns:a16="http://schemas.microsoft.com/office/drawing/2014/main" id="{F45A180E-078B-365F-6DF9-4D666B14CEAB}"/>
              </a:ext>
            </a:extLst>
          </p:cNvPr>
          <p:cNvCxnSpPr>
            <a:cxnSpLocks/>
            <a:stCxn id="26" idx="1"/>
            <a:endCxn id="8" idx="3"/>
          </p:cNvCxnSpPr>
          <p:nvPr/>
        </p:nvCxnSpPr>
        <p:spPr>
          <a:xfrm flipH="1">
            <a:off x="5474970" y="2566541"/>
            <a:ext cx="342899" cy="71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8EAD067-62C1-75BB-ED87-98042510D5F1}"/>
              </a:ext>
            </a:extLst>
          </p:cNvPr>
          <p:cNvCxnSpPr>
            <a:cxnSpLocks/>
            <a:stCxn id="28" idx="1"/>
            <a:endCxn id="9" idx="3"/>
          </p:cNvCxnSpPr>
          <p:nvPr/>
        </p:nvCxnSpPr>
        <p:spPr>
          <a:xfrm flipH="1">
            <a:off x="5474970" y="2990063"/>
            <a:ext cx="342899" cy="362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2B89881-1F68-1A61-4E12-9B3152109BD5}"/>
              </a:ext>
            </a:extLst>
          </p:cNvPr>
          <p:cNvCxnSpPr>
            <a:cxnSpLocks/>
            <a:stCxn id="30" idx="1"/>
            <a:endCxn id="10" idx="3"/>
          </p:cNvCxnSpPr>
          <p:nvPr/>
        </p:nvCxnSpPr>
        <p:spPr>
          <a:xfrm flipH="1">
            <a:off x="5474970" y="3405921"/>
            <a:ext cx="342899" cy="67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0E605B0-1949-A8BC-E20A-01B43F75D430}"/>
              </a:ext>
            </a:extLst>
          </p:cNvPr>
          <p:cNvSpPr txBox="1"/>
          <p:nvPr/>
        </p:nvSpPr>
        <p:spPr>
          <a:xfrm>
            <a:off x="5817869" y="2366486"/>
            <a:ext cx="4919680" cy="400110"/>
          </a:xfrm>
          <a:prstGeom prst="rect">
            <a:avLst/>
          </a:prstGeom>
          <a:noFill/>
        </p:spPr>
        <p:txBody>
          <a:bodyPr wrap="none" rtlCol="0">
            <a:spAutoFit/>
          </a:bodyPr>
          <a:lstStyle/>
          <a:p>
            <a:r>
              <a:rPr lang="en-GB" sz="2000" dirty="0"/>
              <a:t>Name that is displayed to the experimenter</a:t>
            </a:r>
            <a:endParaRPr lang="en-DK" sz="2000" dirty="0"/>
          </a:p>
        </p:txBody>
      </p:sp>
      <p:sp>
        <p:nvSpPr>
          <p:cNvPr id="28" name="TextBox 27">
            <a:extLst>
              <a:ext uri="{FF2B5EF4-FFF2-40B4-BE49-F238E27FC236}">
                <a16:creationId xmlns:a16="http://schemas.microsoft.com/office/drawing/2014/main" id="{18025A67-6066-1A0F-08EC-D36A42749870}"/>
              </a:ext>
            </a:extLst>
          </p:cNvPr>
          <p:cNvSpPr txBox="1"/>
          <p:nvPr/>
        </p:nvSpPr>
        <p:spPr>
          <a:xfrm>
            <a:off x="5817869" y="2790008"/>
            <a:ext cx="3141886" cy="400110"/>
          </a:xfrm>
          <a:prstGeom prst="rect">
            <a:avLst/>
          </a:prstGeom>
          <a:noFill/>
        </p:spPr>
        <p:txBody>
          <a:bodyPr wrap="none" rtlCol="0">
            <a:spAutoFit/>
          </a:bodyPr>
          <a:lstStyle/>
          <a:p>
            <a:r>
              <a:rPr lang="en-GB" sz="2000" dirty="0"/>
              <a:t>Experimental setup variant</a:t>
            </a:r>
            <a:endParaRPr lang="en-DK" sz="2000" dirty="0"/>
          </a:p>
        </p:txBody>
      </p:sp>
      <p:sp>
        <p:nvSpPr>
          <p:cNvPr id="30" name="TextBox 29">
            <a:extLst>
              <a:ext uri="{FF2B5EF4-FFF2-40B4-BE49-F238E27FC236}">
                <a16:creationId xmlns:a16="http://schemas.microsoft.com/office/drawing/2014/main" id="{60DFDEC9-4700-B6BD-0CE6-3678366177EE}"/>
              </a:ext>
            </a:extLst>
          </p:cNvPr>
          <p:cNvSpPr txBox="1"/>
          <p:nvPr/>
        </p:nvSpPr>
        <p:spPr>
          <a:xfrm>
            <a:off x="5817869" y="3205866"/>
            <a:ext cx="4008533" cy="400110"/>
          </a:xfrm>
          <a:prstGeom prst="rect">
            <a:avLst/>
          </a:prstGeom>
          <a:noFill/>
        </p:spPr>
        <p:txBody>
          <a:bodyPr wrap="none" rtlCol="0">
            <a:spAutoFit/>
          </a:bodyPr>
          <a:lstStyle/>
          <a:p>
            <a:r>
              <a:rPr lang="en-GB" sz="2000" dirty="0"/>
              <a:t>Store the protocol in the repository</a:t>
            </a:r>
            <a:endParaRPr lang="en-DK" sz="2000" dirty="0"/>
          </a:p>
        </p:txBody>
      </p:sp>
      <p:sp>
        <p:nvSpPr>
          <p:cNvPr id="32" name="TextBox 31">
            <a:extLst>
              <a:ext uri="{FF2B5EF4-FFF2-40B4-BE49-F238E27FC236}">
                <a16:creationId xmlns:a16="http://schemas.microsoft.com/office/drawing/2014/main" id="{6B71552F-72C9-0259-BC8E-58F93AB9F1C5}"/>
              </a:ext>
            </a:extLst>
          </p:cNvPr>
          <p:cNvSpPr txBox="1"/>
          <p:nvPr/>
        </p:nvSpPr>
        <p:spPr>
          <a:xfrm>
            <a:off x="5817869" y="3681183"/>
            <a:ext cx="3495444" cy="400110"/>
          </a:xfrm>
          <a:prstGeom prst="rect">
            <a:avLst/>
          </a:prstGeom>
          <a:noFill/>
        </p:spPr>
        <p:txBody>
          <a:bodyPr wrap="none" rtlCol="0">
            <a:spAutoFit/>
          </a:bodyPr>
          <a:lstStyle/>
          <a:p>
            <a:r>
              <a:rPr lang="en-GB" sz="2000" dirty="0"/>
              <a:t>Click to create the experiment</a:t>
            </a:r>
            <a:endParaRPr lang="en-DK" sz="2000" dirty="0"/>
          </a:p>
        </p:txBody>
      </p:sp>
      <p:cxnSp>
        <p:nvCxnSpPr>
          <p:cNvPr id="33" name="Straight Arrow Connector 32">
            <a:extLst>
              <a:ext uri="{FF2B5EF4-FFF2-40B4-BE49-F238E27FC236}">
                <a16:creationId xmlns:a16="http://schemas.microsoft.com/office/drawing/2014/main" id="{C6045B32-3FC4-2023-0C9D-40AE9EB4EC9C}"/>
              </a:ext>
            </a:extLst>
          </p:cNvPr>
          <p:cNvCxnSpPr>
            <a:cxnSpLocks/>
            <a:stCxn id="32" idx="1"/>
            <a:endCxn id="11" idx="3"/>
          </p:cNvCxnSpPr>
          <p:nvPr/>
        </p:nvCxnSpPr>
        <p:spPr>
          <a:xfrm flipH="1">
            <a:off x="5474970" y="3881238"/>
            <a:ext cx="342899" cy="246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63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F425E4-D863-92C7-397E-876543B6C702}"/>
              </a:ext>
            </a:extLst>
          </p:cNvPr>
          <p:cNvPicPr>
            <a:picLocks noChangeAspect="1"/>
          </p:cNvPicPr>
          <p:nvPr/>
        </p:nvPicPr>
        <p:blipFill>
          <a:blip r:embed="rId2"/>
          <a:stretch>
            <a:fillRect/>
          </a:stretch>
        </p:blipFill>
        <p:spPr>
          <a:xfrm>
            <a:off x="2526030" y="1404133"/>
            <a:ext cx="7429500" cy="3359347"/>
          </a:xfrm>
          <a:prstGeom prst="rect">
            <a:avLst/>
          </a:prstGeom>
        </p:spPr>
      </p:pic>
      <p:sp>
        <p:nvSpPr>
          <p:cNvPr id="4" name="TextBox 3">
            <a:extLst>
              <a:ext uri="{FF2B5EF4-FFF2-40B4-BE49-F238E27FC236}">
                <a16:creationId xmlns:a16="http://schemas.microsoft.com/office/drawing/2014/main" id="{E9EADEC2-A331-5BA3-6CAF-1A880DD6A21D}"/>
              </a:ext>
            </a:extLst>
          </p:cNvPr>
          <p:cNvSpPr txBox="1"/>
          <p:nvPr/>
        </p:nvSpPr>
        <p:spPr>
          <a:xfrm>
            <a:off x="297180" y="5017769"/>
            <a:ext cx="3325269" cy="400110"/>
          </a:xfrm>
          <a:prstGeom prst="rect">
            <a:avLst/>
          </a:prstGeom>
          <a:noFill/>
        </p:spPr>
        <p:txBody>
          <a:bodyPr wrap="none" rtlCol="0">
            <a:spAutoFit/>
          </a:bodyPr>
          <a:lstStyle/>
          <a:p>
            <a:r>
              <a:rPr lang="en-GB" sz="2000" dirty="0"/>
              <a:t>Select the Experiments page</a:t>
            </a:r>
            <a:endParaRPr lang="en-DK" sz="2000" dirty="0"/>
          </a:p>
        </p:txBody>
      </p:sp>
      <p:sp>
        <p:nvSpPr>
          <p:cNvPr id="5" name="Rectangle 4">
            <a:extLst>
              <a:ext uri="{FF2B5EF4-FFF2-40B4-BE49-F238E27FC236}">
                <a16:creationId xmlns:a16="http://schemas.microsoft.com/office/drawing/2014/main" id="{D4D021E6-3134-A066-2FB0-74EEDCFF0B95}"/>
              </a:ext>
            </a:extLst>
          </p:cNvPr>
          <p:cNvSpPr/>
          <p:nvPr/>
        </p:nvSpPr>
        <p:spPr>
          <a:xfrm>
            <a:off x="2530290" y="3272662"/>
            <a:ext cx="592640" cy="5614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 name="Connector: Elbow 5">
            <a:extLst>
              <a:ext uri="{FF2B5EF4-FFF2-40B4-BE49-F238E27FC236}">
                <a16:creationId xmlns:a16="http://schemas.microsoft.com/office/drawing/2014/main" id="{EF64CC2F-D387-2A93-16DC-817A313A1569}"/>
              </a:ext>
            </a:extLst>
          </p:cNvPr>
          <p:cNvCxnSpPr>
            <a:cxnSpLocks/>
            <a:stCxn id="4" idx="0"/>
            <a:endCxn id="5" idx="1"/>
          </p:cNvCxnSpPr>
          <p:nvPr/>
        </p:nvCxnSpPr>
        <p:spPr>
          <a:xfrm rot="5400000" flipH="1" flipV="1">
            <a:off x="1512866" y="4000346"/>
            <a:ext cx="1464373" cy="570475"/>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968A973-3DE4-1A19-0023-F08819EFCC27}"/>
              </a:ext>
            </a:extLst>
          </p:cNvPr>
          <p:cNvSpPr txBox="1"/>
          <p:nvPr/>
        </p:nvSpPr>
        <p:spPr>
          <a:xfrm>
            <a:off x="2362160" y="720749"/>
            <a:ext cx="3816429" cy="400110"/>
          </a:xfrm>
          <a:prstGeom prst="rect">
            <a:avLst/>
          </a:prstGeom>
          <a:noFill/>
        </p:spPr>
        <p:txBody>
          <a:bodyPr wrap="none" rtlCol="0">
            <a:spAutoFit/>
          </a:bodyPr>
          <a:lstStyle/>
          <a:p>
            <a:r>
              <a:rPr lang="en-GB" sz="2000" dirty="0"/>
              <a:t>Select the experiment to manage</a:t>
            </a:r>
            <a:endParaRPr lang="en-DK" sz="2000" dirty="0"/>
          </a:p>
        </p:txBody>
      </p:sp>
      <p:sp>
        <p:nvSpPr>
          <p:cNvPr id="9" name="Rectangle 8">
            <a:extLst>
              <a:ext uri="{FF2B5EF4-FFF2-40B4-BE49-F238E27FC236}">
                <a16:creationId xmlns:a16="http://schemas.microsoft.com/office/drawing/2014/main" id="{692C1DD8-E2AD-4BC3-7414-828C6C05E660}"/>
              </a:ext>
            </a:extLst>
          </p:cNvPr>
          <p:cNvSpPr/>
          <p:nvPr/>
        </p:nvSpPr>
        <p:spPr>
          <a:xfrm>
            <a:off x="3145790" y="2228433"/>
            <a:ext cx="2249170" cy="34331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0" name="Straight Arrow Connector 9">
            <a:extLst>
              <a:ext uri="{FF2B5EF4-FFF2-40B4-BE49-F238E27FC236}">
                <a16:creationId xmlns:a16="http://schemas.microsoft.com/office/drawing/2014/main" id="{46E87455-0E83-2C3C-4D75-2EBE3DD1B4EA}"/>
              </a:ext>
            </a:extLst>
          </p:cNvPr>
          <p:cNvCxnSpPr>
            <a:cxnSpLocks/>
            <a:stCxn id="8" idx="2"/>
            <a:endCxn id="9" idx="0"/>
          </p:cNvCxnSpPr>
          <p:nvPr/>
        </p:nvCxnSpPr>
        <p:spPr>
          <a:xfrm>
            <a:off x="4270375" y="1120859"/>
            <a:ext cx="0" cy="110757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2E6157E-E772-06E4-86BE-8602F6E1FFD2}"/>
              </a:ext>
            </a:extLst>
          </p:cNvPr>
          <p:cNvSpPr/>
          <p:nvPr/>
        </p:nvSpPr>
        <p:spPr>
          <a:xfrm>
            <a:off x="5437505" y="1850154"/>
            <a:ext cx="725620" cy="289046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TextBox 13">
            <a:extLst>
              <a:ext uri="{FF2B5EF4-FFF2-40B4-BE49-F238E27FC236}">
                <a16:creationId xmlns:a16="http://schemas.microsoft.com/office/drawing/2014/main" id="{09B3C657-F866-0E68-BCCC-8E42CD32CB17}"/>
              </a:ext>
            </a:extLst>
          </p:cNvPr>
          <p:cNvSpPr txBox="1"/>
          <p:nvPr/>
        </p:nvSpPr>
        <p:spPr>
          <a:xfrm>
            <a:off x="4385184" y="5479434"/>
            <a:ext cx="2830262" cy="400110"/>
          </a:xfrm>
          <a:prstGeom prst="rect">
            <a:avLst/>
          </a:prstGeom>
          <a:noFill/>
        </p:spPr>
        <p:txBody>
          <a:bodyPr wrap="none" rtlCol="0">
            <a:spAutoFit/>
          </a:bodyPr>
          <a:lstStyle/>
          <a:p>
            <a:r>
              <a:rPr lang="en-GB" sz="2000" dirty="0"/>
              <a:t>Select experiment page</a:t>
            </a:r>
            <a:endParaRPr lang="en-DK" sz="2000" dirty="0"/>
          </a:p>
        </p:txBody>
      </p:sp>
      <p:sp>
        <p:nvSpPr>
          <p:cNvPr id="15" name="Rectangle 14">
            <a:extLst>
              <a:ext uri="{FF2B5EF4-FFF2-40B4-BE49-F238E27FC236}">
                <a16:creationId xmlns:a16="http://schemas.microsoft.com/office/drawing/2014/main" id="{7F9B9E7C-7535-E502-870F-ADCC0588FC4C}"/>
              </a:ext>
            </a:extLst>
          </p:cNvPr>
          <p:cNvSpPr/>
          <p:nvPr/>
        </p:nvSpPr>
        <p:spPr>
          <a:xfrm>
            <a:off x="6163124" y="1850154"/>
            <a:ext cx="3756763" cy="289046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6" name="Straight Arrow Connector 15">
            <a:extLst>
              <a:ext uri="{FF2B5EF4-FFF2-40B4-BE49-F238E27FC236}">
                <a16:creationId xmlns:a16="http://schemas.microsoft.com/office/drawing/2014/main" id="{B2A80DC5-FC87-6D1C-286E-CAF2C10FB41E}"/>
              </a:ext>
            </a:extLst>
          </p:cNvPr>
          <p:cNvCxnSpPr>
            <a:cxnSpLocks/>
            <a:stCxn id="14" idx="0"/>
            <a:endCxn id="13" idx="2"/>
          </p:cNvCxnSpPr>
          <p:nvPr/>
        </p:nvCxnSpPr>
        <p:spPr>
          <a:xfrm flipV="1">
            <a:off x="5800315" y="4740620"/>
            <a:ext cx="0" cy="73881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4639197-BCBA-3BCD-64E3-5BC0B964A43E}"/>
              </a:ext>
            </a:extLst>
          </p:cNvPr>
          <p:cNvSpPr txBox="1"/>
          <p:nvPr/>
        </p:nvSpPr>
        <p:spPr>
          <a:xfrm>
            <a:off x="6417023" y="5079324"/>
            <a:ext cx="3248966" cy="400110"/>
          </a:xfrm>
          <a:prstGeom prst="rect">
            <a:avLst/>
          </a:prstGeom>
          <a:noFill/>
        </p:spPr>
        <p:txBody>
          <a:bodyPr wrap="none" rtlCol="0">
            <a:spAutoFit/>
          </a:bodyPr>
          <a:lstStyle/>
          <a:p>
            <a:r>
              <a:rPr lang="en-GB" sz="2000" dirty="0"/>
              <a:t>Content of experiment page</a:t>
            </a:r>
            <a:endParaRPr lang="en-DK" sz="2000" dirty="0"/>
          </a:p>
        </p:txBody>
      </p:sp>
      <p:cxnSp>
        <p:nvCxnSpPr>
          <p:cNvPr id="23" name="Straight Arrow Connector 22">
            <a:extLst>
              <a:ext uri="{FF2B5EF4-FFF2-40B4-BE49-F238E27FC236}">
                <a16:creationId xmlns:a16="http://schemas.microsoft.com/office/drawing/2014/main" id="{71BF9281-FA3C-22D9-C81F-52286AC410AE}"/>
              </a:ext>
            </a:extLst>
          </p:cNvPr>
          <p:cNvCxnSpPr>
            <a:cxnSpLocks/>
            <a:stCxn id="22" idx="0"/>
            <a:endCxn id="15" idx="2"/>
          </p:cNvCxnSpPr>
          <p:nvPr/>
        </p:nvCxnSpPr>
        <p:spPr>
          <a:xfrm flipV="1">
            <a:off x="8041506" y="4740620"/>
            <a:ext cx="0" cy="33870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76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he image illustrates a lab setup featuring two devices: LabBench I/O for generating stimuli and capturing responses, and LabBench DISPLAY for presenting visual stimuli to a subject.&#10;&#10;AI-generated content may be incorrect.">
            <a:extLst>
              <a:ext uri="{FF2B5EF4-FFF2-40B4-BE49-F238E27FC236}">
                <a16:creationId xmlns:a16="http://schemas.microsoft.com/office/drawing/2014/main" id="{01D0AB9D-80ED-F65B-B3FE-74FE74F8C744}"/>
              </a:ext>
            </a:extLst>
          </p:cNvPr>
          <p:cNvPicPr>
            <a:picLocks noChangeAspect="1"/>
          </p:cNvPicPr>
          <p:nvPr/>
        </p:nvPicPr>
        <p:blipFill>
          <a:blip r:embed="rId2"/>
          <a:stretch>
            <a:fillRect/>
          </a:stretch>
        </p:blipFill>
        <p:spPr>
          <a:xfrm>
            <a:off x="2131745" y="1418988"/>
            <a:ext cx="4953691" cy="3391373"/>
          </a:xfrm>
          <a:prstGeom prst="rect">
            <a:avLst/>
          </a:prstGeom>
        </p:spPr>
      </p:pic>
      <p:sp>
        <p:nvSpPr>
          <p:cNvPr id="4" name="TextBox 3">
            <a:extLst>
              <a:ext uri="{FF2B5EF4-FFF2-40B4-BE49-F238E27FC236}">
                <a16:creationId xmlns:a16="http://schemas.microsoft.com/office/drawing/2014/main" id="{2A175505-041B-201C-613F-237C50E2A9C8}"/>
              </a:ext>
            </a:extLst>
          </p:cNvPr>
          <p:cNvSpPr txBox="1"/>
          <p:nvPr/>
        </p:nvSpPr>
        <p:spPr>
          <a:xfrm>
            <a:off x="7547145" y="2415535"/>
            <a:ext cx="2045175" cy="400110"/>
          </a:xfrm>
          <a:prstGeom prst="rect">
            <a:avLst/>
          </a:prstGeom>
          <a:noFill/>
        </p:spPr>
        <p:txBody>
          <a:bodyPr wrap="none" rtlCol="0">
            <a:spAutoFit/>
          </a:bodyPr>
          <a:lstStyle/>
          <a:p>
            <a:r>
              <a:rPr lang="en-GB" sz="2000" dirty="0"/>
              <a:t>Configure device</a:t>
            </a:r>
            <a:endParaRPr lang="en-DK" sz="2000" dirty="0"/>
          </a:p>
        </p:txBody>
      </p:sp>
      <p:sp>
        <p:nvSpPr>
          <p:cNvPr id="5" name="Oval 4">
            <a:extLst>
              <a:ext uri="{FF2B5EF4-FFF2-40B4-BE49-F238E27FC236}">
                <a16:creationId xmlns:a16="http://schemas.microsoft.com/office/drawing/2014/main" id="{307B86C2-11D4-A6CE-D2D9-69D04B75F1E5}"/>
              </a:ext>
            </a:extLst>
          </p:cNvPr>
          <p:cNvSpPr/>
          <p:nvPr/>
        </p:nvSpPr>
        <p:spPr>
          <a:xfrm>
            <a:off x="6648735" y="2438155"/>
            <a:ext cx="351060" cy="35487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Oval 5">
            <a:extLst>
              <a:ext uri="{FF2B5EF4-FFF2-40B4-BE49-F238E27FC236}">
                <a16:creationId xmlns:a16="http://schemas.microsoft.com/office/drawing/2014/main" id="{A83AEC08-60A6-AF8A-C100-2E49C7988282}"/>
              </a:ext>
            </a:extLst>
          </p:cNvPr>
          <p:cNvSpPr/>
          <p:nvPr/>
        </p:nvSpPr>
        <p:spPr>
          <a:xfrm>
            <a:off x="6658260" y="1691100"/>
            <a:ext cx="351060" cy="35487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7" name="Straight Arrow Connector 6">
            <a:extLst>
              <a:ext uri="{FF2B5EF4-FFF2-40B4-BE49-F238E27FC236}">
                <a16:creationId xmlns:a16="http://schemas.microsoft.com/office/drawing/2014/main" id="{25C02E09-5313-B447-7AB3-E0D9025358C1}"/>
              </a:ext>
            </a:extLst>
          </p:cNvPr>
          <p:cNvCxnSpPr>
            <a:cxnSpLocks/>
            <a:stCxn id="4" idx="1"/>
            <a:endCxn id="5" idx="6"/>
          </p:cNvCxnSpPr>
          <p:nvPr/>
        </p:nvCxnSpPr>
        <p:spPr>
          <a:xfrm flipH="1">
            <a:off x="6999795" y="2615590"/>
            <a:ext cx="54735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E39DAA0-A2B3-6618-7476-7EB5A322BCE9}"/>
              </a:ext>
            </a:extLst>
          </p:cNvPr>
          <p:cNvSpPr txBox="1"/>
          <p:nvPr/>
        </p:nvSpPr>
        <p:spPr>
          <a:xfrm>
            <a:off x="7547145" y="1668480"/>
            <a:ext cx="2172711" cy="400110"/>
          </a:xfrm>
          <a:prstGeom prst="rect">
            <a:avLst/>
          </a:prstGeom>
          <a:noFill/>
        </p:spPr>
        <p:txBody>
          <a:bodyPr wrap="none" rtlCol="0">
            <a:spAutoFit/>
          </a:bodyPr>
          <a:lstStyle/>
          <a:p>
            <a:r>
              <a:rPr lang="en-GB" sz="2000" dirty="0"/>
              <a:t>Assign equipment</a:t>
            </a:r>
            <a:endParaRPr lang="en-DK" sz="2000" dirty="0"/>
          </a:p>
        </p:txBody>
      </p:sp>
      <p:cxnSp>
        <p:nvCxnSpPr>
          <p:cNvPr id="14" name="Straight Arrow Connector 13">
            <a:extLst>
              <a:ext uri="{FF2B5EF4-FFF2-40B4-BE49-F238E27FC236}">
                <a16:creationId xmlns:a16="http://schemas.microsoft.com/office/drawing/2014/main" id="{BB0C41DD-1E5D-6990-1765-C0DD379CA639}"/>
              </a:ext>
            </a:extLst>
          </p:cNvPr>
          <p:cNvCxnSpPr>
            <a:cxnSpLocks/>
            <a:stCxn id="13" idx="1"/>
            <a:endCxn id="6" idx="6"/>
          </p:cNvCxnSpPr>
          <p:nvPr/>
        </p:nvCxnSpPr>
        <p:spPr>
          <a:xfrm flipH="1">
            <a:off x="7009320" y="1868535"/>
            <a:ext cx="537825"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4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1BB2D8-84FE-6E87-8A80-12647BA7CBBC}"/>
              </a:ext>
            </a:extLst>
          </p:cNvPr>
          <p:cNvPicPr>
            <a:picLocks noChangeAspect="1"/>
          </p:cNvPicPr>
          <p:nvPr/>
        </p:nvPicPr>
        <p:blipFill>
          <a:blip r:embed="rId2"/>
          <a:stretch>
            <a:fillRect/>
          </a:stretch>
        </p:blipFill>
        <p:spPr>
          <a:xfrm>
            <a:off x="4093527" y="1522731"/>
            <a:ext cx="2547303" cy="2541974"/>
          </a:xfrm>
          <a:prstGeom prst="rect">
            <a:avLst/>
          </a:prstGeom>
        </p:spPr>
      </p:pic>
      <p:sp>
        <p:nvSpPr>
          <p:cNvPr id="4" name="Rectangle 3">
            <a:extLst>
              <a:ext uri="{FF2B5EF4-FFF2-40B4-BE49-F238E27FC236}">
                <a16:creationId xmlns:a16="http://schemas.microsoft.com/office/drawing/2014/main" id="{DC20FDEC-E354-2BDF-662A-66F8CDEE441C}"/>
              </a:ext>
            </a:extLst>
          </p:cNvPr>
          <p:cNvSpPr/>
          <p:nvPr/>
        </p:nvSpPr>
        <p:spPr>
          <a:xfrm>
            <a:off x="5367178" y="1936636"/>
            <a:ext cx="1170782" cy="2922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Rectangle 4">
            <a:extLst>
              <a:ext uri="{FF2B5EF4-FFF2-40B4-BE49-F238E27FC236}">
                <a16:creationId xmlns:a16="http://schemas.microsoft.com/office/drawing/2014/main" id="{9B6E8131-8462-87F3-EC06-3A772901755D}"/>
              </a:ext>
            </a:extLst>
          </p:cNvPr>
          <p:cNvSpPr/>
          <p:nvPr/>
        </p:nvSpPr>
        <p:spPr>
          <a:xfrm>
            <a:off x="4099242" y="1936636"/>
            <a:ext cx="427038" cy="2922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TextBox 5">
            <a:extLst>
              <a:ext uri="{FF2B5EF4-FFF2-40B4-BE49-F238E27FC236}">
                <a16:creationId xmlns:a16="http://schemas.microsoft.com/office/drawing/2014/main" id="{B37007C0-B68D-B5E5-5ADC-51A5DA63671E}"/>
              </a:ext>
            </a:extLst>
          </p:cNvPr>
          <p:cNvSpPr txBox="1"/>
          <p:nvPr/>
        </p:nvSpPr>
        <p:spPr>
          <a:xfrm>
            <a:off x="1680210" y="896389"/>
            <a:ext cx="3542701" cy="400110"/>
          </a:xfrm>
          <a:prstGeom prst="rect">
            <a:avLst/>
          </a:prstGeom>
          <a:noFill/>
        </p:spPr>
        <p:txBody>
          <a:bodyPr wrap="none" rtlCol="0">
            <a:spAutoFit/>
          </a:bodyPr>
          <a:lstStyle/>
          <a:p>
            <a:r>
              <a:rPr lang="en-GB" sz="2000" dirty="0"/>
              <a:t>ID of the device in the protocol</a:t>
            </a:r>
            <a:endParaRPr lang="en-DK" sz="2000" dirty="0"/>
          </a:p>
        </p:txBody>
      </p:sp>
      <p:cxnSp>
        <p:nvCxnSpPr>
          <p:cNvPr id="7" name="Connector: Elbow 6">
            <a:extLst>
              <a:ext uri="{FF2B5EF4-FFF2-40B4-BE49-F238E27FC236}">
                <a16:creationId xmlns:a16="http://schemas.microsoft.com/office/drawing/2014/main" id="{EFFC6550-D237-CCDD-087C-DE63218F8157}"/>
              </a:ext>
            </a:extLst>
          </p:cNvPr>
          <p:cNvCxnSpPr>
            <a:cxnSpLocks/>
            <a:stCxn id="6" idx="2"/>
            <a:endCxn id="5" idx="1"/>
          </p:cNvCxnSpPr>
          <p:nvPr/>
        </p:nvCxnSpPr>
        <p:spPr>
          <a:xfrm rot="16200000" flipH="1">
            <a:off x="3382279" y="1365780"/>
            <a:ext cx="786244" cy="647681"/>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C7E1EA3-6BFB-9BEA-2B4C-6B8811D04B5F}"/>
              </a:ext>
            </a:extLst>
          </p:cNvPr>
          <p:cNvSpPr txBox="1"/>
          <p:nvPr/>
        </p:nvSpPr>
        <p:spPr>
          <a:xfrm>
            <a:off x="5276691" y="4290135"/>
            <a:ext cx="4197111" cy="400110"/>
          </a:xfrm>
          <a:prstGeom prst="rect">
            <a:avLst/>
          </a:prstGeom>
          <a:noFill/>
        </p:spPr>
        <p:txBody>
          <a:bodyPr wrap="none" rtlCol="0">
            <a:spAutoFit/>
          </a:bodyPr>
          <a:lstStyle/>
          <a:p>
            <a:r>
              <a:rPr lang="en-GB" sz="2000" dirty="0"/>
              <a:t>Equipment ID from the Devices Page</a:t>
            </a:r>
            <a:endParaRPr lang="en-DK" sz="2000" dirty="0"/>
          </a:p>
        </p:txBody>
      </p:sp>
      <p:cxnSp>
        <p:nvCxnSpPr>
          <p:cNvPr id="11" name="Connector: Elbow 10">
            <a:extLst>
              <a:ext uri="{FF2B5EF4-FFF2-40B4-BE49-F238E27FC236}">
                <a16:creationId xmlns:a16="http://schemas.microsoft.com/office/drawing/2014/main" id="{01933161-5E71-E645-16A3-F34138C34FC9}"/>
              </a:ext>
            </a:extLst>
          </p:cNvPr>
          <p:cNvCxnSpPr>
            <a:cxnSpLocks/>
            <a:stCxn id="8" idx="0"/>
            <a:endCxn id="4" idx="3"/>
          </p:cNvCxnSpPr>
          <p:nvPr/>
        </p:nvCxnSpPr>
        <p:spPr>
          <a:xfrm rot="16200000" flipV="1">
            <a:off x="5852908" y="2767795"/>
            <a:ext cx="2207392" cy="837287"/>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7912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shows a user interface for a LabBench Designer software, featuring a monitor calibration tool with various settings and measurements.&#10;&#10;AI-generated content may be incorrect.">
            <a:extLst>
              <a:ext uri="{FF2B5EF4-FFF2-40B4-BE49-F238E27FC236}">
                <a16:creationId xmlns:a16="http://schemas.microsoft.com/office/drawing/2014/main" id="{4D0BB5C2-E512-4CBF-4EAD-BA8D14B21765}"/>
              </a:ext>
            </a:extLst>
          </p:cNvPr>
          <p:cNvPicPr>
            <a:picLocks noChangeAspect="1"/>
          </p:cNvPicPr>
          <p:nvPr/>
        </p:nvPicPr>
        <p:blipFill>
          <a:blip r:embed="rId2"/>
          <a:stretch>
            <a:fillRect/>
          </a:stretch>
        </p:blipFill>
        <p:spPr>
          <a:xfrm>
            <a:off x="1919375" y="2062162"/>
            <a:ext cx="7408810" cy="3243263"/>
          </a:xfrm>
          <a:prstGeom prst="rect">
            <a:avLst/>
          </a:prstGeom>
        </p:spPr>
      </p:pic>
      <p:sp>
        <p:nvSpPr>
          <p:cNvPr id="4" name="TextBox 3">
            <a:extLst>
              <a:ext uri="{FF2B5EF4-FFF2-40B4-BE49-F238E27FC236}">
                <a16:creationId xmlns:a16="http://schemas.microsoft.com/office/drawing/2014/main" id="{5DF055B5-E310-A6AB-970C-635A5339E1B5}"/>
              </a:ext>
            </a:extLst>
          </p:cNvPr>
          <p:cNvSpPr txBox="1"/>
          <p:nvPr/>
        </p:nvSpPr>
        <p:spPr>
          <a:xfrm>
            <a:off x="9587670" y="2386959"/>
            <a:ext cx="2047163" cy="400110"/>
          </a:xfrm>
          <a:prstGeom prst="rect">
            <a:avLst/>
          </a:prstGeom>
          <a:noFill/>
        </p:spPr>
        <p:txBody>
          <a:bodyPr wrap="none" rtlCol="0">
            <a:spAutoFit/>
          </a:bodyPr>
          <a:lstStyle/>
          <a:p>
            <a:r>
              <a:rPr lang="en-GB" sz="2000" dirty="0"/>
              <a:t>Calibrate display</a:t>
            </a:r>
            <a:endParaRPr lang="en-DK" sz="2000" dirty="0"/>
          </a:p>
        </p:txBody>
      </p:sp>
      <p:sp>
        <p:nvSpPr>
          <p:cNvPr id="5" name="Oval 4">
            <a:extLst>
              <a:ext uri="{FF2B5EF4-FFF2-40B4-BE49-F238E27FC236}">
                <a16:creationId xmlns:a16="http://schemas.microsoft.com/office/drawing/2014/main" id="{E3B2ACCD-2279-FC59-70C8-EC948808B80E}"/>
              </a:ext>
            </a:extLst>
          </p:cNvPr>
          <p:cNvSpPr/>
          <p:nvPr/>
        </p:nvSpPr>
        <p:spPr>
          <a:xfrm>
            <a:off x="8934735" y="2443014"/>
            <a:ext cx="288000" cy="288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 name="Straight Arrow Connector 5">
            <a:extLst>
              <a:ext uri="{FF2B5EF4-FFF2-40B4-BE49-F238E27FC236}">
                <a16:creationId xmlns:a16="http://schemas.microsoft.com/office/drawing/2014/main" id="{E5CF1CC9-BA9D-82AE-1E4C-173B72194305}"/>
              </a:ext>
            </a:extLst>
          </p:cNvPr>
          <p:cNvCxnSpPr>
            <a:cxnSpLocks/>
            <a:stCxn id="4" idx="1"/>
            <a:endCxn id="5" idx="6"/>
          </p:cNvCxnSpPr>
          <p:nvPr/>
        </p:nvCxnSpPr>
        <p:spPr>
          <a:xfrm flipH="1">
            <a:off x="9222735" y="2587014"/>
            <a:ext cx="364935"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2476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F841DC-1AE7-F7BA-2D01-9B08D3173643}"/>
              </a:ext>
            </a:extLst>
          </p:cNvPr>
          <p:cNvPicPr>
            <a:picLocks noChangeAspect="1"/>
          </p:cNvPicPr>
          <p:nvPr/>
        </p:nvPicPr>
        <p:blipFill>
          <a:blip r:embed="rId2"/>
          <a:stretch>
            <a:fillRect/>
          </a:stretch>
        </p:blipFill>
        <p:spPr>
          <a:xfrm>
            <a:off x="4260229" y="807316"/>
            <a:ext cx="3671542" cy="4164734"/>
          </a:xfrm>
          <a:prstGeom prst="rect">
            <a:avLst/>
          </a:prstGeom>
        </p:spPr>
      </p:pic>
    </p:spTree>
    <p:extLst>
      <p:ext uri="{BB962C8B-B14F-4D97-AF65-F5344CB8AC3E}">
        <p14:creationId xmlns:p14="http://schemas.microsoft.com/office/powerpoint/2010/main" val="4292007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LabBenchExport\intro.labbench.&#10;&#10;AI-generated content may be incorrect.">
            <a:extLst>
              <a:ext uri="{FF2B5EF4-FFF2-40B4-BE49-F238E27FC236}">
                <a16:creationId xmlns:a16="http://schemas.microsoft.com/office/drawing/2014/main" id="{149CEF8C-E518-F73C-2411-B0849CE88A00}"/>
              </a:ext>
            </a:extLst>
          </p:cNvPr>
          <p:cNvPicPr>
            <a:picLocks noChangeAspect="1"/>
          </p:cNvPicPr>
          <p:nvPr/>
        </p:nvPicPr>
        <p:blipFill>
          <a:blip r:embed="rId2"/>
          <a:stretch>
            <a:fillRect/>
          </a:stretch>
        </p:blipFill>
        <p:spPr>
          <a:xfrm>
            <a:off x="1775722" y="2500563"/>
            <a:ext cx="4535544" cy="1376546"/>
          </a:xfrm>
          <a:prstGeom prst="rect">
            <a:avLst/>
          </a:prstGeom>
        </p:spPr>
      </p:pic>
      <p:sp>
        <p:nvSpPr>
          <p:cNvPr id="4" name="TextBox 3">
            <a:extLst>
              <a:ext uri="{FF2B5EF4-FFF2-40B4-BE49-F238E27FC236}">
                <a16:creationId xmlns:a16="http://schemas.microsoft.com/office/drawing/2014/main" id="{AA69CAF4-EE98-743B-C099-760CF178B5A3}"/>
              </a:ext>
            </a:extLst>
          </p:cNvPr>
          <p:cNvSpPr txBox="1"/>
          <p:nvPr/>
        </p:nvSpPr>
        <p:spPr>
          <a:xfrm>
            <a:off x="4587164" y="3969989"/>
            <a:ext cx="2868542" cy="400110"/>
          </a:xfrm>
          <a:prstGeom prst="rect">
            <a:avLst/>
          </a:prstGeom>
          <a:noFill/>
        </p:spPr>
        <p:txBody>
          <a:bodyPr wrap="none" rtlCol="0">
            <a:spAutoFit/>
          </a:bodyPr>
          <a:lstStyle/>
          <a:p>
            <a:r>
              <a:rPr lang="en-GB" sz="2000" dirty="0"/>
              <a:t>Change output directory</a:t>
            </a:r>
            <a:endParaRPr lang="en-DK" sz="2000" dirty="0"/>
          </a:p>
        </p:txBody>
      </p:sp>
      <p:sp>
        <p:nvSpPr>
          <p:cNvPr id="5" name="Oval 4">
            <a:extLst>
              <a:ext uri="{FF2B5EF4-FFF2-40B4-BE49-F238E27FC236}">
                <a16:creationId xmlns:a16="http://schemas.microsoft.com/office/drawing/2014/main" id="{95308CBF-75AC-4533-ADA5-1C5902738426}"/>
              </a:ext>
            </a:extLst>
          </p:cNvPr>
          <p:cNvSpPr/>
          <p:nvPr/>
        </p:nvSpPr>
        <p:spPr>
          <a:xfrm>
            <a:off x="5845905" y="3119850"/>
            <a:ext cx="351060" cy="35487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 name="Straight Arrow Connector 5">
            <a:extLst>
              <a:ext uri="{FF2B5EF4-FFF2-40B4-BE49-F238E27FC236}">
                <a16:creationId xmlns:a16="http://schemas.microsoft.com/office/drawing/2014/main" id="{11EE31CC-CDB9-9C1F-865A-9092D08036D7}"/>
              </a:ext>
            </a:extLst>
          </p:cNvPr>
          <p:cNvCxnSpPr>
            <a:cxnSpLocks/>
            <a:stCxn id="8" idx="2"/>
            <a:endCxn id="7" idx="0"/>
          </p:cNvCxnSpPr>
          <p:nvPr/>
        </p:nvCxnSpPr>
        <p:spPr>
          <a:xfrm>
            <a:off x="5584650" y="2323128"/>
            <a:ext cx="0" cy="79672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038BA0A9-2727-E9A1-E9E7-13C243939F61}"/>
              </a:ext>
            </a:extLst>
          </p:cNvPr>
          <p:cNvSpPr/>
          <p:nvPr/>
        </p:nvSpPr>
        <p:spPr>
          <a:xfrm>
            <a:off x="5409120" y="3119850"/>
            <a:ext cx="351060" cy="35487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TextBox 7">
            <a:extLst>
              <a:ext uri="{FF2B5EF4-FFF2-40B4-BE49-F238E27FC236}">
                <a16:creationId xmlns:a16="http://schemas.microsoft.com/office/drawing/2014/main" id="{5F3D90DD-3F0D-0A00-95E1-D2417F4B7F30}"/>
              </a:ext>
            </a:extLst>
          </p:cNvPr>
          <p:cNvSpPr txBox="1"/>
          <p:nvPr/>
        </p:nvSpPr>
        <p:spPr>
          <a:xfrm>
            <a:off x="4786995" y="1923018"/>
            <a:ext cx="1595309" cy="400110"/>
          </a:xfrm>
          <a:prstGeom prst="rect">
            <a:avLst/>
          </a:prstGeom>
          <a:noFill/>
        </p:spPr>
        <p:txBody>
          <a:bodyPr wrap="none" rtlCol="0">
            <a:spAutoFit/>
          </a:bodyPr>
          <a:lstStyle/>
          <a:p>
            <a:r>
              <a:rPr lang="en-GB" sz="2000" dirty="0"/>
              <a:t>Rerun action</a:t>
            </a:r>
            <a:endParaRPr lang="en-DK" sz="2000" dirty="0"/>
          </a:p>
        </p:txBody>
      </p:sp>
      <p:cxnSp>
        <p:nvCxnSpPr>
          <p:cNvPr id="9" name="Straight Arrow Connector 8">
            <a:extLst>
              <a:ext uri="{FF2B5EF4-FFF2-40B4-BE49-F238E27FC236}">
                <a16:creationId xmlns:a16="http://schemas.microsoft.com/office/drawing/2014/main" id="{24348D09-1613-C877-2E1C-69B830551984}"/>
              </a:ext>
            </a:extLst>
          </p:cNvPr>
          <p:cNvCxnSpPr>
            <a:cxnSpLocks/>
            <a:stCxn id="4" idx="0"/>
            <a:endCxn id="5" idx="4"/>
          </p:cNvCxnSpPr>
          <p:nvPr/>
        </p:nvCxnSpPr>
        <p:spPr>
          <a:xfrm flipV="1">
            <a:off x="6021435" y="3474720"/>
            <a:ext cx="0" cy="49526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674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8F3D018A-DC14-AAD2-A798-229B4A674338}"/>
              </a:ext>
            </a:extLst>
          </p:cNvPr>
          <p:cNvGrpSpPr/>
          <p:nvPr/>
        </p:nvGrpSpPr>
        <p:grpSpPr>
          <a:xfrm>
            <a:off x="1515655" y="765994"/>
            <a:ext cx="1163139" cy="1798390"/>
            <a:chOff x="2023655" y="1416234"/>
            <a:chExt cx="1163139" cy="1798390"/>
          </a:xfrm>
        </p:grpSpPr>
        <p:pic>
          <p:nvPicPr>
            <p:cNvPr id="5" name="Picture 4">
              <a:extLst>
                <a:ext uri="{FF2B5EF4-FFF2-40B4-BE49-F238E27FC236}">
                  <a16:creationId xmlns:a16="http://schemas.microsoft.com/office/drawing/2014/main" id="{50D4B995-E28F-3301-4C2A-4CDF7D9EEF25}"/>
                </a:ext>
              </a:extLst>
            </p:cNvPr>
            <p:cNvPicPr>
              <a:picLocks noChangeAspect="1"/>
            </p:cNvPicPr>
            <p:nvPr/>
          </p:nvPicPr>
          <p:blipFill>
            <a:blip r:embed="rId3"/>
            <a:stretch>
              <a:fillRect/>
            </a:stretch>
          </p:blipFill>
          <p:spPr>
            <a:xfrm>
              <a:off x="2023655" y="1968754"/>
              <a:ext cx="1067889" cy="1245870"/>
            </a:xfrm>
            <a:prstGeom prst="rect">
              <a:avLst/>
            </a:prstGeom>
          </p:spPr>
        </p:pic>
        <p:sp>
          <p:nvSpPr>
            <p:cNvPr id="10" name="TextBox 9">
              <a:extLst>
                <a:ext uri="{FF2B5EF4-FFF2-40B4-BE49-F238E27FC236}">
                  <a16:creationId xmlns:a16="http://schemas.microsoft.com/office/drawing/2014/main" id="{BD70CFC0-8BC5-A478-A7F5-953DD4D605D6}"/>
                </a:ext>
              </a:extLst>
            </p:cNvPr>
            <p:cNvSpPr txBox="1"/>
            <p:nvPr/>
          </p:nvSpPr>
          <p:spPr>
            <a:xfrm>
              <a:off x="2023655" y="1416234"/>
              <a:ext cx="1163139" cy="338554"/>
            </a:xfrm>
            <a:prstGeom prst="rect">
              <a:avLst/>
            </a:prstGeom>
            <a:noFill/>
          </p:spPr>
          <p:txBody>
            <a:bodyPr wrap="none" lIns="0" rtlCol="0">
              <a:spAutoFit/>
            </a:bodyPr>
            <a:lstStyle/>
            <a:p>
              <a:r>
                <a:rPr lang="en-GB" sz="1600" b="1" dirty="0"/>
                <a:t>Experiment</a:t>
              </a:r>
              <a:endParaRPr lang="en-DK" sz="1600" b="1" dirty="0"/>
            </a:p>
          </p:txBody>
        </p:sp>
      </p:grpSp>
      <p:grpSp>
        <p:nvGrpSpPr>
          <p:cNvPr id="45" name="Group 44">
            <a:extLst>
              <a:ext uri="{FF2B5EF4-FFF2-40B4-BE49-F238E27FC236}">
                <a16:creationId xmlns:a16="http://schemas.microsoft.com/office/drawing/2014/main" id="{EDA4255A-1D9A-BD3C-35F0-D4591DD28763}"/>
              </a:ext>
            </a:extLst>
          </p:cNvPr>
          <p:cNvGrpSpPr/>
          <p:nvPr/>
        </p:nvGrpSpPr>
        <p:grpSpPr>
          <a:xfrm>
            <a:off x="3179080" y="762947"/>
            <a:ext cx="1067889" cy="1798390"/>
            <a:chOff x="3931379" y="1416234"/>
            <a:chExt cx="1067889" cy="1798390"/>
          </a:xfrm>
        </p:grpSpPr>
        <p:pic>
          <p:nvPicPr>
            <p:cNvPr id="6" name="Picture 5">
              <a:extLst>
                <a:ext uri="{FF2B5EF4-FFF2-40B4-BE49-F238E27FC236}">
                  <a16:creationId xmlns:a16="http://schemas.microsoft.com/office/drawing/2014/main" id="{93CAA074-306E-94F4-3ED7-BB4946D61A3B}"/>
                </a:ext>
              </a:extLst>
            </p:cNvPr>
            <p:cNvPicPr>
              <a:picLocks noChangeAspect="1"/>
            </p:cNvPicPr>
            <p:nvPr/>
          </p:nvPicPr>
          <p:blipFill>
            <a:blip r:embed="rId4"/>
            <a:stretch>
              <a:fillRect/>
            </a:stretch>
          </p:blipFill>
          <p:spPr>
            <a:xfrm>
              <a:off x="3931379" y="1968754"/>
              <a:ext cx="1067889" cy="1245870"/>
            </a:xfrm>
            <a:prstGeom prst="rect">
              <a:avLst/>
            </a:prstGeom>
          </p:spPr>
        </p:pic>
        <p:sp>
          <p:nvSpPr>
            <p:cNvPr id="12" name="TextBox 11">
              <a:extLst>
                <a:ext uri="{FF2B5EF4-FFF2-40B4-BE49-F238E27FC236}">
                  <a16:creationId xmlns:a16="http://schemas.microsoft.com/office/drawing/2014/main" id="{8909148F-F5B2-4564-170B-558616CBFAC7}"/>
                </a:ext>
              </a:extLst>
            </p:cNvPr>
            <p:cNvSpPr txBox="1"/>
            <p:nvPr/>
          </p:nvSpPr>
          <p:spPr>
            <a:xfrm>
              <a:off x="3931379" y="1416234"/>
              <a:ext cx="986232" cy="553998"/>
            </a:xfrm>
            <a:prstGeom prst="rect">
              <a:avLst/>
            </a:prstGeom>
            <a:noFill/>
          </p:spPr>
          <p:txBody>
            <a:bodyPr wrap="none" lIns="0" rtlCol="0">
              <a:spAutoFit/>
            </a:bodyPr>
            <a:lstStyle/>
            <a:p>
              <a:r>
                <a:rPr lang="en-GB" sz="1600" b="1" dirty="0"/>
                <a:t>Language</a:t>
              </a:r>
            </a:p>
            <a:p>
              <a:r>
                <a:rPr lang="en-GB" sz="1400" i="1" dirty="0"/>
                <a:t>(Optional)</a:t>
              </a:r>
              <a:endParaRPr lang="en-DK" sz="1400" i="1" dirty="0"/>
            </a:p>
          </p:txBody>
        </p:sp>
      </p:grpSp>
      <p:grpSp>
        <p:nvGrpSpPr>
          <p:cNvPr id="46" name="Group 45">
            <a:extLst>
              <a:ext uri="{FF2B5EF4-FFF2-40B4-BE49-F238E27FC236}">
                <a16:creationId xmlns:a16="http://schemas.microsoft.com/office/drawing/2014/main" id="{7DC5AB83-970E-8BF9-8DF8-044694495A68}"/>
              </a:ext>
            </a:extLst>
          </p:cNvPr>
          <p:cNvGrpSpPr/>
          <p:nvPr/>
        </p:nvGrpSpPr>
        <p:grpSpPr>
          <a:xfrm>
            <a:off x="4511932" y="762946"/>
            <a:ext cx="1121461" cy="1798391"/>
            <a:chOff x="5486850" y="1416234"/>
            <a:chExt cx="1121461" cy="1798391"/>
          </a:xfrm>
        </p:grpSpPr>
        <p:pic>
          <p:nvPicPr>
            <p:cNvPr id="7" name="Picture 6">
              <a:extLst>
                <a:ext uri="{FF2B5EF4-FFF2-40B4-BE49-F238E27FC236}">
                  <a16:creationId xmlns:a16="http://schemas.microsoft.com/office/drawing/2014/main" id="{E83D5CE8-B943-529B-0F73-DC81A42CBD68}"/>
                </a:ext>
              </a:extLst>
            </p:cNvPr>
            <p:cNvPicPr>
              <a:picLocks noChangeAspect="1"/>
            </p:cNvPicPr>
            <p:nvPr/>
          </p:nvPicPr>
          <p:blipFill>
            <a:blip r:embed="rId5"/>
            <a:stretch>
              <a:fillRect/>
            </a:stretch>
          </p:blipFill>
          <p:spPr>
            <a:xfrm>
              <a:off x="5493657" y="1968755"/>
              <a:ext cx="1067889" cy="1245870"/>
            </a:xfrm>
            <a:prstGeom prst="rect">
              <a:avLst/>
            </a:prstGeom>
          </p:spPr>
        </p:pic>
        <p:sp>
          <p:nvSpPr>
            <p:cNvPr id="13" name="TextBox 12">
              <a:extLst>
                <a:ext uri="{FF2B5EF4-FFF2-40B4-BE49-F238E27FC236}">
                  <a16:creationId xmlns:a16="http://schemas.microsoft.com/office/drawing/2014/main" id="{29353CD1-6C83-C635-F73A-AEE161FC28E3}"/>
                </a:ext>
              </a:extLst>
            </p:cNvPr>
            <p:cNvSpPr txBox="1"/>
            <p:nvPr/>
          </p:nvSpPr>
          <p:spPr>
            <a:xfrm>
              <a:off x="5486850" y="1416234"/>
              <a:ext cx="1121461" cy="338554"/>
            </a:xfrm>
            <a:prstGeom prst="rect">
              <a:avLst/>
            </a:prstGeom>
            <a:noFill/>
          </p:spPr>
          <p:txBody>
            <a:bodyPr wrap="none" lIns="0" rtlCol="0">
              <a:spAutoFit/>
            </a:bodyPr>
            <a:lstStyle/>
            <a:p>
              <a:r>
                <a:rPr lang="en-GB" sz="1600" b="1" dirty="0"/>
                <a:t>Participant</a:t>
              </a:r>
              <a:endParaRPr lang="en-DK" sz="1600" b="1" dirty="0"/>
            </a:p>
          </p:txBody>
        </p:sp>
      </p:grpSp>
      <p:grpSp>
        <p:nvGrpSpPr>
          <p:cNvPr id="47" name="Group 46">
            <a:extLst>
              <a:ext uri="{FF2B5EF4-FFF2-40B4-BE49-F238E27FC236}">
                <a16:creationId xmlns:a16="http://schemas.microsoft.com/office/drawing/2014/main" id="{FF5CE261-95E3-642E-C840-FC270123AF0A}"/>
              </a:ext>
            </a:extLst>
          </p:cNvPr>
          <p:cNvGrpSpPr/>
          <p:nvPr/>
        </p:nvGrpSpPr>
        <p:grpSpPr>
          <a:xfrm>
            <a:off x="6193245" y="765994"/>
            <a:ext cx="1067889" cy="1798391"/>
            <a:chOff x="6914605" y="1416234"/>
            <a:chExt cx="1067889" cy="1798391"/>
          </a:xfrm>
        </p:grpSpPr>
        <p:pic>
          <p:nvPicPr>
            <p:cNvPr id="8" name="Picture 7">
              <a:extLst>
                <a:ext uri="{FF2B5EF4-FFF2-40B4-BE49-F238E27FC236}">
                  <a16:creationId xmlns:a16="http://schemas.microsoft.com/office/drawing/2014/main" id="{99CFDC20-CDE4-8E21-4372-75FABB8AB26B}"/>
                </a:ext>
              </a:extLst>
            </p:cNvPr>
            <p:cNvPicPr>
              <a:picLocks noChangeAspect="1"/>
            </p:cNvPicPr>
            <p:nvPr/>
          </p:nvPicPr>
          <p:blipFill>
            <a:blip r:embed="rId6"/>
            <a:stretch>
              <a:fillRect/>
            </a:stretch>
          </p:blipFill>
          <p:spPr>
            <a:xfrm>
              <a:off x="6914605" y="1968755"/>
              <a:ext cx="1067889" cy="1245870"/>
            </a:xfrm>
            <a:prstGeom prst="rect">
              <a:avLst/>
            </a:prstGeom>
          </p:spPr>
        </p:pic>
        <p:sp>
          <p:nvSpPr>
            <p:cNvPr id="14" name="TextBox 13">
              <a:extLst>
                <a:ext uri="{FF2B5EF4-FFF2-40B4-BE49-F238E27FC236}">
                  <a16:creationId xmlns:a16="http://schemas.microsoft.com/office/drawing/2014/main" id="{EDF03F7F-2949-F3DD-496E-9BDCEE4197CC}"/>
                </a:ext>
              </a:extLst>
            </p:cNvPr>
            <p:cNvSpPr txBox="1"/>
            <p:nvPr/>
          </p:nvSpPr>
          <p:spPr>
            <a:xfrm>
              <a:off x="6962082" y="1416234"/>
              <a:ext cx="869790" cy="553998"/>
            </a:xfrm>
            <a:prstGeom prst="rect">
              <a:avLst/>
            </a:prstGeom>
            <a:noFill/>
          </p:spPr>
          <p:txBody>
            <a:bodyPr wrap="none" lIns="0" rtlCol="0">
              <a:spAutoFit/>
            </a:bodyPr>
            <a:lstStyle/>
            <a:p>
              <a:r>
                <a:rPr lang="en-GB" sz="1600" b="1" dirty="0"/>
                <a:t>Session</a:t>
              </a:r>
            </a:p>
            <a:p>
              <a:r>
                <a:rPr lang="en-GB" sz="1400" i="1" dirty="0"/>
                <a:t>(Optional)</a:t>
              </a:r>
              <a:endParaRPr lang="en-DK" sz="1400" dirty="0"/>
            </a:p>
          </p:txBody>
        </p:sp>
      </p:grpSp>
      <p:grpSp>
        <p:nvGrpSpPr>
          <p:cNvPr id="48" name="Group 47">
            <a:extLst>
              <a:ext uri="{FF2B5EF4-FFF2-40B4-BE49-F238E27FC236}">
                <a16:creationId xmlns:a16="http://schemas.microsoft.com/office/drawing/2014/main" id="{5B544BD2-7AD7-4542-487C-53A89A9F50AE}"/>
              </a:ext>
            </a:extLst>
          </p:cNvPr>
          <p:cNvGrpSpPr/>
          <p:nvPr/>
        </p:nvGrpSpPr>
        <p:grpSpPr>
          <a:xfrm>
            <a:off x="7968646" y="759899"/>
            <a:ext cx="1067889" cy="1801438"/>
            <a:chOff x="8442780" y="1413186"/>
            <a:chExt cx="1067889" cy="1801438"/>
          </a:xfrm>
        </p:grpSpPr>
        <p:pic>
          <p:nvPicPr>
            <p:cNvPr id="9" name="Picture 8">
              <a:extLst>
                <a:ext uri="{FF2B5EF4-FFF2-40B4-BE49-F238E27FC236}">
                  <a16:creationId xmlns:a16="http://schemas.microsoft.com/office/drawing/2014/main" id="{3417ED0A-9878-3FE4-F6CE-7BD89B06EA08}"/>
                </a:ext>
              </a:extLst>
            </p:cNvPr>
            <p:cNvPicPr>
              <a:picLocks noChangeAspect="1"/>
            </p:cNvPicPr>
            <p:nvPr/>
          </p:nvPicPr>
          <p:blipFill>
            <a:blip r:embed="rId7"/>
            <a:stretch>
              <a:fillRect/>
            </a:stretch>
          </p:blipFill>
          <p:spPr>
            <a:xfrm>
              <a:off x="8442780" y="1968754"/>
              <a:ext cx="1067889" cy="1245870"/>
            </a:xfrm>
            <a:prstGeom prst="rect">
              <a:avLst/>
            </a:prstGeom>
          </p:spPr>
        </p:pic>
        <p:sp>
          <p:nvSpPr>
            <p:cNvPr id="15" name="TextBox 14">
              <a:extLst>
                <a:ext uri="{FF2B5EF4-FFF2-40B4-BE49-F238E27FC236}">
                  <a16:creationId xmlns:a16="http://schemas.microsoft.com/office/drawing/2014/main" id="{8726A38E-8DE1-DC42-CA29-765333D14366}"/>
                </a:ext>
              </a:extLst>
            </p:cNvPr>
            <p:cNvSpPr txBox="1"/>
            <p:nvPr/>
          </p:nvSpPr>
          <p:spPr>
            <a:xfrm>
              <a:off x="8465957" y="1413186"/>
              <a:ext cx="869790" cy="553998"/>
            </a:xfrm>
            <a:prstGeom prst="rect">
              <a:avLst/>
            </a:prstGeom>
            <a:noFill/>
          </p:spPr>
          <p:txBody>
            <a:bodyPr wrap="none" lIns="0" rtlCol="0">
              <a:spAutoFit/>
            </a:bodyPr>
            <a:lstStyle/>
            <a:p>
              <a:r>
                <a:rPr lang="en-GB" sz="1600" b="1" dirty="0"/>
                <a:t>Devices</a:t>
              </a:r>
            </a:p>
            <a:p>
              <a:r>
                <a:rPr lang="en-GB" sz="1400" i="1" dirty="0"/>
                <a:t>(Optional)</a:t>
              </a:r>
              <a:endParaRPr lang="en-DK" sz="1400" dirty="0"/>
            </a:p>
          </p:txBody>
        </p:sp>
      </p:grpSp>
      <p:sp>
        <p:nvSpPr>
          <p:cNvPr id="16" name="Oval 15">
            <a:extLst>
              <a:ext uri="{FF2B5EF4-FFF2-40B4-BE49-F238E27FC236}">
                <a16:creationId xmlns:a16="http://schemas.microsoft.com/office/drawing/2014/main" id="{84046D84-CCBB-D4FF-97F0-40E4935ED5C4}"/>
              </a:ext>
            </a:extLst>
          </p:cNvPr>
          <p:cNvSpPr/>
          <p:nvPr/>
        </p:nvSpPr>
        <p:spPr>
          <a:xfrm>
            <a:off x="9447293" y="2782697"/>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 name="TextBox 16">
            <a:extLst>
              <a:ext uri="{FF2B5EF4-FFF2-40B4-BE49-F238E27FC236}">
                <a16:creationId xmlns:a16="http://schemas.microsoft.com/office/drawing/2014/main" id="{90058D13-AFAA-DFFF-87B5-695BBFA2B40D}"/>
              </a:ext>
            </a:extLst>
          </p:cNvPr>
          <p:cNvSpPr txBox="1"/>
          <p:nvPr/>
        </p:nvSpPr>
        <p:spPr>
          <a:xfrm>
            <a:off x="9078170" y="3081801"/>
            <a:ext cx="1026247" cy="646331"/>
          </a:xfrm>
          <a:prstGeom prst="rect">
            <a:avLst/>
          </a:prstGeom>
          <a:noFill/>
        </p:spPr>
        <p:txBody>
          <a:bodyPr wrap="square" lIns="0" rIns="0" rtlCol="0">
            <a:spAutoFit/>
          </a:bodyPr>
          <a:lstStyle/>
          <a:p>
            <a:pPr algn="ctr"/>
            <a:r>
              <a:rPr lang="en-GB" dirty="0"/>
              <a:t>LabBench Runner</a:t>
            </a:r>
            <a:endParaRPr lang="en-DK" dirty="0"/>
          </a:p>
        </p:txBody>
      </p:sp>
      <p:sp>
        <p:nvSpPr>
          <p:cNvPr id="19" name="Oval 18">
            <a:extLst>
              <a:ext uri="{FF2B5EF4-FFF2-40B4-BE49-F238E27FC236}">
                <a16:creationId xmlns:a16="http://schemas.microsoft.com/office/drawing/2014/main" id="{6E665656-95D1-4A60-B55B-E1D38DB9404F}"/>
              </a:ext>
            </a:extLst>
          </p:cNvPr>
          <p:cNvSpPr/>
          <p:nvPr/>
        </p:nvSpPr>
        <p:spPr>
          <a:xfrm>
            <a:off x="1044731" y="2754340"/>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TextBox 19">
            <a:extLst>
              <a:ext uri="{FF2B5EF4-FFF2-40B4-BE49-F238E27FC236}">
                <a16:creationId xmlns:a16="http://schemas.microsoft.com/office/drawing/2014/main" id="{0C5599CD-21DD-AA0D-27ED-EF1503FA1DC1}"/>
              </a:ext>
            </a:extLst>
          </p:cNvPr>
          <p:cNvSpPr txBox="1"/>
          <p:nvPr/>
        </p:nvSpPr>
        <p:spPr>
          <a:xfrm>
            <a:off x="710105" y="3081801"/>
            <a:ext cx="968036" cy="369332"/>
          </a:xfrm>
          <a:prstGeom prst="rect">
            <a:avLst/>
          </a:prstGeom>
          <a:noFill/>
        </p:spPr>
        <p:txBody>
          <a:bodyPr wrap="square" lIns="0" rIns="0" rtlCol="0">
            <a:spAutoFit/>
          </a:bodyPr>
          <a:lstStyle/>
          <a:p>
            <a:pPr algn="ctr"/>
            <a:r>
              <a:rPr lang="en-GB" dirty="0"/>
              <a:t>Start</a:t>
            </a:r>
            <a:endParaRPr lang="en-DK" dirty="0"/>
          </a:p>
        </p:txBody>
      </p:sp>
      <p:sp>
        <p:nvSpPr>
          <p:cNvPr id="33" name="Diamond 32">
            <a:extLst>
              <a:ext uri="{FF2B5EF4-FFF2-40B4-BE49-F238E27FC236}">
                <a16:creationId xmlns:a16="http://schemas.microsoft.com/office/drawing/2014/main" id="{CE485D16-990D-8715-DDD7-D5F03933B6BD}"/>
              </a:ext>
            </a:extLst>
          </p:cNvPr>
          <p:cNvSpPr/>
          <p:nvPr/>
        </p:nvSpPr>
        <p:spPr>
          <a:xfrm>
            <a:off x="2802930" y="2754340"/>
            <a:ext cx="458430" cy="325120"/>
          </a:xfrm>
          <a:prstGeom prst="diamond">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35" name="Connector: Elbow 34">
            <a:extLst>
              <a:ext uri="{FF2B5EF4-FFF2-40B4-BE49-F238E27FC236}">
                <a16:creationId xmlns:a16="http://schemas.microsoft.com/office/drawing/2014/main" id="{F9B75451-54A8-CF31-0D51-C76F30963075}"/>
              </a:ext>
            </a:extLst>
          </p:cNvPr>
          <p:cNvCxnSpPr>
            <a:cxnSpLocks/>
            <a:stCxn id="5" idx="3"/>
            <a:endCxn id="33" idx="1"/>
          </p:cNvCxnSpPr>
          <p:nvPr/>
        </p:nvCxnSpPr>
        <p:spPr>
          <a:xfrm>
            <a:off x="2583544" y="1941449"/>
            <a:ext cx="219386" cy="97545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nector: Elbow 37">
            <a:extLst>
              <a:ext uri="{FF2B5EF4-FFF2-40B4-BE49-F238E27FC236}">
                <a16:creationId xmlns:a16="http://schemas.microsoft.com/office/drawing/2014/main" id="{EAEB176A-B16C-EB96-88AE-9F066B4FD192}"/>
              </a:ext>
            </a:extLst>
          </p:cNvPr>
          <p:cNvCxnSpPr>
            <a:cxnSpLocks/>
            <a:stCxn id="33" idx="0"/>
            <a:endCxn id="6" idx="1"/>
          </p:cNvCxnSpPr>
          <p:nvPr/>
        </p:nvCxnSpPr>
        <p:spPr>
          <a:xfrm rot="5400000" flipH="1" flipV="1">
            <a:off x="2697643" y="2272904"/>
            <a:ext cx="815938" cy="14693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0" name="Connector: Elbow 39">
            <a:extLst>
              <a:ext uri="{FF2B5EF4-FFF2-40B4-BE49-F238E27FC236}">
                <a16:creationId xmlns:a16="http://schemas.microsoft.com/office/drawing/2014/main" id="{99852BEB-57F8-73C4-64CB-25CB07FEA185}"/>
              </a:ext>
            </a:extLst>
          </p:cNvPr>
          <p:cNvCxnSpPr>
            <a:cxnSpLocks/>
            <a:endCxn id="7" idx="1"/>
          </p:cNvCxnSpPr>
          <p:nvPr/>
        </p:nvCxnSpPr>
        <p:spPr>
          <a:xfrm flipV="1">
            <a:off x="2848595" y="1938402"/>
            <a:ext cx="1670144" cy="984358"/>
          </a:xfrm>
          <a:prstGeom prst="bentConnector3">
            <a:avLst>
              <a:gd name="adj1" fmla="val 90150"/>
            </a:avLst>
          </a:prstGeom>
          <a:ln>
            <a:tailEnd type="triangle"/>
          </a:ln>
        </p:spPr>
        <p:style>
          <a:lnRef idx="2">
            <a:schemeClr val="dk1"/>
          </a:lnRef>
          <a:fillRef idx="0">
            <a:schemeClr val="dk1"/>
          </a:fillRef>
          <a:effectRef idx="1">
            <a:schemeClr val="dk1"/>
          </a:effectRef>
          <a:fontRef idx="minor">
            <a:schemeClr val="tx1"/>
          </a:fontRef>
        </p:style>
      </p:cxnSp>
      <p:sp>
        <p:nvSpPr>
          <p:cNvPr id="43" name="Diamond 42">
            <a:extLst>
              <a:ext uri="{FF2B5EF4-FFF2-40B4-BE49-F238E27FC236}">
                <a16:creationId xmlns:a16="http://schemas.microsoft.com/office/drawing/2014/main" id="{58E6DD24-DAF4-E696-E007-98F36E5BC21C}"/>
              </a:ext>
            </a:extLst>
          </p:cNvPr>
          <p:cNvSpPr/>
          <p:nvPr/>
        </p:nvSpPr>
        <p:spPr>
          <a:xfrm>
            <a:off x="5832977" y="2754340"/>
            <a:ext cx="458430" cy="325120"/>
          </a:xfrm>
          <a:prstGeom prst="diamond">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53" name="Connector: Elbow 52">
            <a:extLst>
              <a:ext uri="{FF2B5EF4-FFF2-40B4-BE49-F238E27FC236}">
                <a16:creationId xmlns:a16="http://schemas.microsoft.com/office/drawing/2014/main" id="{7AFB2F27-2873-5832-FE1D-84D29802BCC8}"/>
              </a:ext>
            </a:extLst>
          </p:cNvPr>
          <p:cNvCxnSpPr>
            <a:stCxn id="7" idx="3"/>
            <a:endCxn id="43" idx="1"/>
          </p:cNvCxnSpPr>
          <p:nvPr/>
        </p:nvCxnSpPr>
        <p:spPr>
          <a:xfrm>
            <a:off x="5586628" y="1938402"/>
            <a:ext cx="246349" cy="97849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55" name="Connector: Elbow 54">
            <a:extLst>
              <a:ext uri="{FF2B5EF4-FFF2-40B4-BE49-F238E27FC236}">
                <a16:creationId xmlns:a16="http://schemas.microsoft.com/office/drawing/2014/main" id="{1E3C8B64-E479-CE16-573C-F157D47D7E8C}"/>
              </a:ext>
            </a:extLst>
          </p:cNvPr>
          <p:cNvCxnSpPr>
            <a:stCxn id="43" idx="0"/>
            <a:endCxn id="8" idx="1"/>
          </p:cNvCxnSpPr>
          <p:nvPr/>
        </p:nvCxnSpPr>
        <p:spPr>
          <a:xfrm rot="5400000" flipH="1" flipV="1">
            <a:off x="5721273" y="2282369"/>
            <a:ext cx="812890" cy="13105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3" name="Connector: Elbow 62">
            <a:extLst>
              <a:ext uri="{FF2B5EF4-FFF2-40B4-BE49-F238E27FC236}">
                <a16:creationId xmlns:a16="http://schemas.microsoft.com/office/drawing/2014/main" id="{1E54C41E-CCCB-8931-8F8E-5A6E00198F59}"/>
              </a:ext>
            </a:extLst>
          </p:cNvPr>
          <p:cNvCxnSpPr>
            <a:cxnSpLocks/>
            <a:stCxn id="8" idx="3"/>
            <a:endCxn id="51" idx="1"/>
          </p:cNvCxnSpPr>
          <p:nvPr/>
        </p:nvCxnSpPr>
        <p:spPr>
          <a:xfrm>
            <a:off x="7261134" y="1941450"/>
            <a:ext cx="279990" cy="981298"/>
          </a:xfrm>
          <a:prstGeom prst="bentConnector3">
            <a:avLst>
              <a:gd name="adj1" fmla="val 25506"/>
            </a:avLst>
          </a:prstGeom>
          <a:ln>
            <a:tailEnd type="triangle"/>
          </a:ln>
        </p:spPr>
        <p:style>
          <a:lnRef idx="2">
            <a:schemeClr val="dk1"/>
          </a:lnRef>
          <a:fillRef idx="0">
            <a:schemeClr val="dk1"/>
          </a:fillRef>
          <a:effectRef idx="1">
            <a:schemeClr val="dk1"/>
          </a:effectRef>
          <a:fontRef idx="minor">
            <a:schemeClr val="tx1"/>
          </a:fontRef>
        </p:style>
      </p:cxnSp>
      <p:sp>
        <p:nvSpPr>
          <p:cNvPr id="51" name="Diamond 50">
            <a:extLst>
              <a:ext uri="{FF2B5EF4-FFF2-40B4-BE49-F238E27FC236}">
                <a16:creationId xmlns:a16="http://schemas.microsoft.com/office/drawing/2014/main" id="{A48E3162-7921-CC20-F7A4-7B77A3FC3FB8}"/>
              </a:ext>
            </a:extLst>
          </p:cNvPr>
          <p:cNvSpPr/>
          <p:nvPr/>
        </p:nvSpPr>
        <p:spPr>
          <a:xfrm>
            <a:off x="7541124" y="2760188"/>
            <a:ext cx="458430" cy="325120"/>
          </a:xfrm>
          <a:prstGeom prst="diamond">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76" name="Straight Arrow Connector 75">
            <a:extLst>
              <a:ext uri="{FF2B5EF4-FFF2-40B4-BE49-F238E27FC236}">
                <a16:creationId xmlns:a16="http://schemas.microsoft.com/office/drawing/2014/main" id="{3F674019-324A-4B31-B717-8953ABA37345}"/>
              </a:ext>
            </a:extLst>
          </p:cNvPr>
          <p:cNvCxnSpPr>
            <a:cxnSpLocks/>
            <a:stCxn id="43" idx="3"/>
            <a:endCxn id="51" idx="1"/>
          </p:cNvCxnSpPr>
          <p:nvPr/>
        </p:nvCxnSpPr>
        <p:spPr>
          <a:xfrm>
            <a:off x="6291407" y="2916900"/>
            <a:ext cx="1249717" cy="58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Connector: Elbow 79">
            <a:extLst>
              <a:ext uri="{FF2B5EF4-FFF2-40B4-BE49-F238E27FC236}">
                <a16:creationId xmlns:a16="http://schemas.microsoft.com/office/drawing/2014/main" id="{F9DA1C69-70F2-FE34-A1CF-408D6765C4AF}"/>
              </a:ext>
            </a:extLst>
          </p:cNvPr>
          <p:cNvCxnSpPr>
            <a:cxnSpLocks/>
            <a:endCxn id="9" idx="1"/>
          </p:cNvCxnSpPr>
          <p:nvPr/>
        </p:nvCxnSpPr>
        <p:spPr>
          <a:xfrm rot="5400000" flipH="1" flipV="1">
            <a:off x="7433407" y="2327661"/>
            <a:ext cx="924498" cy="14598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83" name="Oval 82">
            <a:extLst>
              <a:ext uri="{FF2B5EF4-FFF2-40B4-BE49-F238E27FC236}">
                <a16:creationId xmlns:a16="http://schemas.microsoft.com/office/drawing/2014/main" id="{0F1758F1-76CF-820F-BA00-1CC04168CB3B}"/>
              </a:ext>
            </a:extLst>
          </p:cNvPr>
          <p:cNvSpPr/>
          <p:nvPr/>
        </p:nvSpPr>
        <p:spPr>
          <a:xfrm>
            <a:off x="9196146" y="2872697"/>
            <a:ext cx="108000" cy="108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85" name="Straight Arrow Connector 84">
            <a:extLst>
              <a:ext uri="{FF2B5EF4-FFF2-40B4-BE49-F238E27FC236}">
                <a16:creationId xmlns:a16="http://schemas.microsoft.com/office/drawing/2014/main" id="{D1E8175A-4502-2A2F-C458-0D57196BBABD}"/>
              </a:ext>
            </a:extLst>
          </p:cNvPr>
          <p:cNvCxnSpPr>
            <a:cxnSpLocks/>
            <a:stCxn id="83" idx="6"/>
            <a:endCxn id="16" idx="2"/>
          </p:cNvCxnSpPr>
          <p:nvPr/>
        </p:nvCxnSpPr>
        <p:spPr>
          <a:xfrm>
            <a:off x="9304146" y="2926697"/>
            <a:ext cx="14314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27EC7A67-4C44-704C-4B60-1A17EA30BDF5}"/>
              </a:ext>
            </a:extLst>
          </p:cNvPr>
          <p:cNvCxnSpPr>
            <a:cxnSpLocks/>
            <a:stCxn id="51" idx="3"/>
            <a:endCxn id="83" idx="2"/>
          </p:cNvCxnSpPr>
          <p:nvPr/>
        </p:nvCxnSpPr>
        <p:spPr>
          <a:xfrm>
            <a:off x="7999554" y="2922748"/>
            <a:ext cx="1196592" cy="39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Connector: Elbow 88">
            <a:extLst>
              <a:ext uri="{FF2B5EF4-FFF2-40B4-BE49-F238E27FC236}">
                <a16:creationId xmlns:a16="http://schemas.microsoft.com/office/drawing/2014/main" id="{6F3CDC0D-1632-306C-9761-1E79065B3C98}"/>
              </a:ext>
            </a:extLst>
          </p:cNvPr>
          <p:cNvCxnSpPr>
            <a:stCxn id="9" idx="3"/>
            <a:endCxn id="83" idx="0"/>
          </p:cNvCxnSpPr>
          <p:nvPr/>
        </p:nvCxnSpPr>
        <p:spPr>
          <a:xfrm>
            <a:off x="9036535" y="1938402"/>
            <a:ext cx="213611" cy="93429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90" name="Diamond 89">
            <a:extLst>
              <a:ext uri="{FF2B5EF4-FFF2-40B4-BE49-F238E27FC236}">
                <a16:creationId xmlns:a16="http://schemas.microsoft.com/office/drawing/2014/main" id="{FB9364DB-96CC-4E1A-E139-3A5DC510B127}"/>
              </a:ext>
            </a:extLst>
          </p:cNvPr>
          <p:cNvSpPr/>
          <p:nvPr/>
        </p:nvSpPr>
        <p:spPr>
          <a:xfrm>
            <a:off x="6208994" y="4124004"/>
            <a:ext cx="458430" cy="325120"/>
          </a:xfrm>
          <a:prstGeom prst="diamond">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1" name="TextBox 90">
            <a:extLst>
              <a:ext uri="{FF2B5EF4-FFF2-40B4-BE49-F238E27FC236}">
                <a16:creationId xmlns:a16="http://schemas.microsoft.com/office/drawing/2014/main" id="{69B1ABD7-0029-B152-A66B-F8B10FAEB9C9}"/>
              </a:ext>
            </a:extLst>
          </p:cNvPr>
          <p:cNvSpPr txBox="1"/>
          <p:nvPr/>
        </p:nvSpPr>
        <p:spPr>
          <a:xfrm>
            <a:off x="942564" y="4098886"/>
            <a:ext cx="5223766" cy="369332"/>
          </a:xfrm>
          <a:prstGeom prst="rect">
            <a:avLst/>
          </a:prstGeom>
          <a:noFill/>
        </p:spPr>
        <p:txBody>
          <a:bodyPr wrap="square" rtlCol="0">
            <a:spAutoFit/>
          </a:bodyPr>
          <a:lstStyle/>
          <a:p>
            <a:r>
              <a:rPr lang="en-GB" dirty="0"/>
              <a:t>Decision about the progress in the Startup Wizard.</a:t>
            </a:r>
            <a:endParaRPr lang="en-DK" dirty="0"/>
          </a:p>
        </p:txBody>
      </p:sp>
      <p:sp>
        <p:nvSpPr>
          <p:cNvPr id="92" name="TextBox 91">
            <a:extLst>
              <a:ext uri="{FF2B5EF4-FFF2-40B4-BE49-F238E27FC236}">
                <a16:creationId xmlns:a16="http://schemas.microsoft.com/office/drawing/2014/main" id="{D9D3DC8F-DBAB-DB6B-C944-7E0967F6F6FD}"/>
              </a:ext>
            </a:extLst>
          </p:cNvPr>
          <p:cNvSpPr txBox="1"/>
          <p:nvPr/>
        </p:nvSpPr>
        <p:spPr>
          <a:xfrm>
            <a:off x="6166330" y="3735651"/>
            <a:ext cx="527645" cy="369332"/>
          </a:xfrm>
          <a:prstGeom prst="rect">
            <a:avLst/>
          </a:prstGeom>
          <a:noFill/>
        </p:spPr>
        <p:txBody>
          <a:bodyPr wrap="none" rtlCol="0">
            <a:spAutoFit/>
          </a:bodyPr>
          <a:lstStyle/>
          <a:p>
            <a:r>
              <a:rPr lang="en-GB" dirty="0"/>
              <a:t>Yes</a:t>
            </a:r>
            <a:endParaRPr lang="en-DK" dirty="0"/>
          </a:p>
        </p:txBody>
      </p:sp>
      <p:sp>
        <p:nvSpPr>
          <p:cNvPr id="93" name="TextBox 92">
            <a:extLst>
              <a:ext uri="{FF2B5EF4-FFF2-40B4-BE49-F238E27FC236}">
                <a16:creationId xmlns:a16="http://schemas.microsoft.com/office/drawing/2014/main" id="{2A8381B0-1F7D-FA5C-E303-B67A0287BDC1}"/>
              </a:ext>
            </a:extLst>
          </p:cNvPr>
          <p:cNvSpPr txBox="1"/>
          <p:nvPr/>
        </p:nvSpPr>
        <p:spPr>
          <a:xfrm>
            <a:off x="6647344" y="4104983"/>
            <a:ext cx="474810" cy="369332"/>
          </a:xfrm>
          <a:prstGeom prst="rect">
            <a:avLst/>
          </a:prstGeom>
          <a:noFill/>
        </p:spPr>
        <p:txBody>
          <a:bodyPr wrap="none" rtlCol="0">
            <a:spAutoFit/>
          </a:bodyPr>
          <a:lstStyle/>
          <a:p>
            <a:r>
              <a:rPr lang="en-GB" dirty="0"/>
              <a:t>No</a:t>
            </a:r>
            <a:endParaRPr lang="en-DK" dirty="0"/>
          </a:p>
        </p:txBody>
      </p:sp>
      <p:sp>
        <p:nvSpPr>
          <p:cNvPr id="94" name="TextBox 93">
            <a:extLst>
              <a:ext uri="{FF2B5EF4-FFF2-40B4-BE49-F238E27FC236}">
                <a16:creationId xmlns:a16="http://schemas.microsoft.com/office/drawing/2014/main" id="{E0A980B7-0B14-D6E8-D863-11684D5AA843}"/>
              </a:ext>
            </a:extLst>
          </p:cNvPr>
          <p:cNvSpPr txBox="1"/>
          <p:nvPr/>
        </p:nvSpPr>
        <p:spPr>
          <a:xfrm>
            <a:off x="2280389" y="3081801"/>
            <a:ext cx="1587294" cy="369332"/>
          </a:xfrm>
          <a:prstGeom prst="rect">
            <a:avLst/>
          </a:prstGeom>
          <a:noFill/>
        </p:spPr>
        <p:txBody>
          <a:bodyPr wrap="none" rtlCol="0">
            <a:spAutoFit/>
          </a:bodyPr>
          <a:lstStyle/>
          <a:p>
            <a:r>
              <a:rPr lang="en-GB" dirty="0"/>
              <a:t>Is it localized?</a:t>
            </a:r>
            <a:endParaRPr lang="en-DK" dirty="0"/>
          </a:p>
        </p:txBody>
      </p:sp>
      <p:sp>
        <p:nvSpPr>
          <p:cNvPr id="95" name="TextBox 94">
            <a:extLst>
              <a:ext uri="{FF2B5EF4-FFF2-40B4-BE49-F238E27FC236}">
                <a16:creationId xmlns:a16="http://schemas.microsoft.com/office/drawing/2014/main" id="{7A281021-D460-6B04-F716-0C4F31CBBADF}"/>
              </a:ext>
            </a:extLst>
          </p:cNvPr>
          <p:cNvSpPr txBox="1"/>
          <p:nvPr/>
        </p:nvSpPr>
        <p:spPr>
          <a:xfrm>
            <a:off x="5052683" y="3081801"/>
            <a:ext cx="2049151" cy="369332"/>
          </a:xfrm>
          <a:prstGeom prst="rect">
            <a:avLst/>
          </a:prstGeom>
          <a:noFill/>
        </p:spPr>
        <p:txBody>
          <a:bodyPr wrap="none" rtlCol="0">
            <a:spAutoFit/>
          </a:bodyPr>
          <a:lstStyle/>
          <a:p>
            <a:r>
              <a:rPr lang="en-GB" dirty="0"/>
              <a:t>Is it multi-session?</a:t>
            </a:r>
            <a:endParaRPr lang="en-DK" dirty="0"/>
          </a:p>
        </p:txBody>
      </p:sp>
      <p:sp>
        <p:nvSpPr>
          <p:cNvPr id="96" name="TextBox 95">
            <a:extLst>
              <a:ext uri="{FF2B5EF4-FFF2-40B4-BE49-F238E27FC236}">
                <a16:creationId xmlns:a16="http://schemas.microsoft.com/office/drawing/2014/main" id="{094880A6-3386-0C03-7C7B-64436BEE9E39}"/>
              </a:ext>
            </a:extLst>
          </p:cNvPr>
          <p:cNvSpPr txBox="1"/>
          <p:nvPr/>
        </p:nvSpPr>
        <p:spPr>
          <a:xfrm>
            <a:off x="7175556" y="3081801"/>
            <a:ext cx="1335622" cy="646331"/>
          </a:xfrm>
          <a:prstGeom prst="rect">
            <a:avLst/>
          </a:prstGeom>
          <a:noFill/>
        </p:spPr>
        <p:txBody>
          <a:bodyPr wrap="none" rtlCol="0">
            <a:spAutoFit/>
          </a:bodyPr>
          <a:lstStyle/>
          <a:p>
            <a:pPr algn="ctr"/>
            <a:r>
              <a:rPr lang="en-GB" dirty="0"/>
              <a:t>Does it use </a:t>
            </a:r>
          </a:p>
          <a:p>
            <a:pPr algn="ctr"/>
            <a:r>
              <a:rPr lang="en-GB" dirty="0"/>
              <a:t>devices?</a:t>
            </a:r>
            <a:endParaRPr lang="en-DK" dirty="0"/>
          </a:p>
        </p:txBody>
      </p:sp>
      <p:cxnSp>
        <p:nvCxnSpPr>
          <p:cNvPr id="104" name="Connector: Elbow 103">
            <a:extLst>
              <a:ext uri="{FF2B5EF4-FFF2-40B4-BE49-F238E27FC236}">
                <a16:creationId xmlns:a16="http://schemas.microsoft.com/office/drawing/2014/main" id="{CA94C024-2A67-9516-A238-FD7A8B861B24}"/>
              </a:ext>
            </a:extLst>
          </p:cNvPr>
          <p:cNvCxnSpPr>
            <a:stCxn id="19" idx="0"/>
            <a:endCxn id="5" idx="1"/>
          </p:cNvCxnSpPr>
          <p:nvPr/>
        </p:nvCxnSpPr>
        <p:spPr>
          <a:xfrm rot="5400000" flipH="1" flipV="1">
            <a:off x="945748" y="2184433"/>
            <a:ext cx="812891" cy="32692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4839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46CA22-D853-6698-C64F-84EFDD1B75FC}"/>
              </a:ext>
            </a:extLst>
          </p:cNvPr>
          <p:cNvPicPr>
            <a:picLocks noChangeAspect="1"/>
          </p:cNvPicPr>
          <p:nvPr/>
        </p:nvPicPr>
        <p:blipFill>
          <a:blip r:embed="rId2"/>
          <a:stretch>
            <a:fillRect/>
          </a:stretch>
        </p:blipFill>
        <p:spPr>
          <a:xfrm>
            <a:off x="3646805" y="1197610"/>
            <a:ext cx="4166235" cy="2918811"/>
          </a:xfrm>
          <a:prstGeom prst="rect">
            <a:avLst/>
          </a:prstGeom>
        </p:spPr>
      </p:pic>
      <p:sp>
        <p:nvSpPr>
          <p:cNvPr id="6" name="Rectangle 5">
            <a:extLst>
              <a:ext uri="{FF2B5EF4-FFF2-40B4-BE49-F238E27FC236}">
                <a16:creationId xmlns:a16="http://schemas.microsoft.com/office/drawing/2014/main" id="{E150A57D-A6E1-84A1-1A34-15AD135529CF}"/>
              </a:ext>
            </a:extLst>
          </p:cNvPr>
          <p:cNvSpPr/>
          <p:nvPr/>
        </p:nvSpPr>
        <p:spPr>
          <a:xfrm>
            <a:off x="3646805" y="1351280"/>
            <a:ext cx="1534795" cy="27651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 name="Rectangle 6">
            <a:extLst>
              <a:ext uri="{FF2B5EF4-FFF2-40B4-BE49-F238E27FC236}">
                <a16:creationId xmlns:a16="http://schemas.microsoft.com/office/drawing/2014/main" id="{F9082C03-E70A-2FC4-BEAC-18D6769E4550}"/>
              </a:ext>
            </a:extLst>
          </p:cNvPr>
          <p:cNvSpPr/>
          <p:nvPr/>
        </p:nvSpPr>
        <p:spPr>
          <a:xfrm>
            <a:off x="5181600" y="1777999"/>
            <a:ext cx="2621280" cy="18084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Rectangle 7">
            <a:extLst>
              <a:ext uri="{FF2B5EF4-FFF2-40B4-BE49-F238E27FC236}">
                <a16:creationId xmlns:a16="http://schemas.microsoft.com/office/drawing/2014/main" id="{D62509C9-5748-0E07-2DA9-402B97755AFE}"/>
              </a:ext>
            </a:extLst>
          </p:cNvPr>
          <p:cNvSpPr/>
          <p:nvPr/>
        </p:nvSpPr>
        <p:spPr>
          <a:xfrm>
            <a:off x="5181600" y="3586480"/>
            <a:ext cx="2621280" cy="5299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78653534-6CF3-AC09-7360-2AC6398752B8}"/>
              </a:ext>
            </a:extLst>
          </p:cNvPr>
          <p:cNvSpPr/>
          <p:nvPr/>
        </p:nvSpPr>
        <p:spPr>
          <a:xfrm>
            <a:off x="5181600" y="1351280"/>
            <a:ext cx="2621280" cy="4267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 name="TextBox 9">
            <a:extLst>
              <a:ext uri="{FF2B5EF4-FFF2-40B4-BE49-F238E27FC236}">
                <a16:creationId xmlns:a16="http://schemas.microsoft.com/office/drawing/2014/main" id="{42C4D6CA-5BA7-C7FF-3ECC-8DD30BC2C3C4}"/>
              </a:ext>
            </a:extLst>
          </p:cNvPr>
          <p:cNvSpPr txBox="1"/>
          <p:nvPr/>
        </p:nvSpPr>
        <p:spPr>
          <a:xfrm>
            <a:off x="2319447" y="2533796"/>
            <a:ext cx="1119922" cy="400110"/>
          </a:xfrm>
          <a:prstGeom prst="rect">
            <a:avLst/>
          </a:prstGeom>
          <a:noFill/>
        </p:spPr>
        <p:txBody>
          <a:bodyPr wrap="none" rtlCol="0">
            <a:spAutoFit/>
          </a:bodyPr>
          <a:lstStyle/>
          <a:p>
            <a:r>
              <a:rPr lang="en-GB" sz="2000" dirty="0"/>
              <a:t>Protocol</a:t>
            </a:r>
            <a:endParaRPr lang="en-DK" sz="2000" dirty="0"/>
          </a:p>
        </p:txBody>
      </p:sp>
      <p:sp>
        <p:nvSpPr>
          <p:cNvPr id="11" name="TextBox 10">
            <a:extLst>
              <a:ext uri="{FF2B5EF4-FFF2-40B4-BE49-F238E27FC236}">
                <a16:creationId xmlns:a16="http://schemas.microsoft.com/office/drawing/2014/main" id="{01899227-DCB3-0D8B-BF8E-28075E8F6D78}"/>
              </a:ext>
            </a:extLst>
          </p:cNvPr>
          <p:cNvSpPr txBox="1"/>
          <p:nvPr/>
        </p:nvSpPr>
        <p:spPr>
          <a:xfrm>
            <a:off x="8122172" y="1210696"/>
            <a:ext cx="2996565" cy="707886"/>
          </a:xfrm>
          <a:prstGeom prst="rect">
            <a:avLst/>
          </a:prstGeom>
          <a:noFill/>
        </p:spPr>
        <p:txBody>
          <a:bodyPr wrap="square" rtlCol="0">
            <a:spAutoFit/>
          </a:bodyPr>
          <a:lstStyle/>
          <a:p>
            <a:r>
              <a:rPr lang="en-GB" sz="2000" dirty="0"/>
              <a:t>Procedure control and information panel</a:t>
            </a:r>
            <a:endParaRPr lang="en-DK" sz="2000" dirty="0"/>
          </a:p>
        </p:txBody>
      </p:sp>
      <p:sp>
        <p:nvSpPr>
          <p:cNvPr id="12" name="TextBox 11">
            <a:extLst>
              <a:ext uri="{FF2B5EF4-FFF2-40B4-BE49-F238E27FC236}">
                <a16:creationId xmlns:a16="http://schemas.microsoft.com/office/drawing/2014/main" id="{8753C3CE-5EB3-5AE5-DED4-D62CA6308661}"/>
              </a:ext>
            </a:extLst>
          </p:cNvPr>
          <p:cNvSpPr txBox="1"/>
          <p:nvPr/>
        </p:nvSpPr>
        <p:spPr>
          <a:xfrm>
            <a:off x="8121611" y="2482184"/>
            <a:ext cx="2004138" cy="400110"/>
          </a:xfrm>
          <a:prstGeom prst="rect">
            <a:avLst/>
          </a:prstGeom>
          <a:noFill/>
        </p:spPr>
        <p:txBody>
          <a:bodyPr wrap="none" rtlCol="0">
            <a:spAutoFit/>
          </a:bodyPr>
          <a:lstStyle/>
          <a:p>
            <a:r>
              <a:rPr lang="en-GB" sz="2000" dirty="0"/>
              <a:t>Procedure panel</a:t>
            </a:r>
            <a:endParaRPr lang="en-DK" sz="2000" dirty="0"/>
          </a:p>
        </p:txBody>
      </p:sp>
      <p:sp>
        <p:nvSpPr>
          <p:cNvPr id="13" name="TextBox 12">
            <a:extLst>
              <a:ext uri="{FF2B5EF4-FFF2-40B4-BE49-F238E27FC236}">
                <a16:creationId xmlns:a16="http://schemas.microsoft.com/office/drawing/2014/main" id="{231F98C7-169E-6755-9B34-BB71C2E3F7E6}"/>
              </a:ext>
            </a:extLst>
          </p:cNvPr>
          <p:cNvSpPr txBox="1"/>
          <p:nvPr/>
        </p:nvSpPr>
        <p:spPr>
          <a:xfrm>
            <a:off x="8121611" y="3647572"/>
            <a:ext cx="1486048" cy="400110"/>
          </a:xfrm>
          <a:prstGeom prst="rect">
            <a:avLst/>
          </a:prstGeom>
          <a:noFill/>
        </p:spPr>
        <p:txBody>
          <a:bodyPr wrap="none" rtlCol="0">
            <a:spAutoFit/>
          </a:bodyPr>
          <a:lstStyle/>
          <a:p>
            <a:r>
              <a:rPr lang="en-GB" sz="2000" dirty="0"/>
              <a:t>Log window</a:t>
            </a:r>
            <a:endParaRPr lang="en-DK" sz="2000" dirty="0"/>
          </a:p>
        </p:txBody>
      </p:sp>
      <p:cxnSp>
        <p:nvCxnSpPr>
          <p:cNvPr id="15" name="Straight Arrow Connector 14">
            <a:extLst>
              <a:ext uri="{FF2B5EF4-FFF2-40B4-BE49-F238E27FC236}">
                <a16:creationId xmlns:a16="http://schemas.microsoft.com/office/drawing/2014/main" id="{8D40413E-133A-8580-A057-F62261187EEF}"/>
              </a:ext>
            </a:extLst>
          </p:cNvPr>
          <p:cNvCxnSpPr>
            <a:stCxn id="10" idx="3"/>
            <a:endCxn id="6" idx="1"/>
          </p:cNvCxnSpPr>
          <p:nvPr/>
        </p:nvCxnSpPr>
        <p:spPr>
          <a:xfrm>
            <a:off x="3439369" y="2733851"/>
            <a:ext cx="20743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C18F7B61-26EB-B516-2551-33C47EC05CD4}"/>
              </a:ext>
            </a:extLst>
          </p:cNvPr>
          <p:cNvCxnSpPr>
            <a:cxnSpLocks/>
            <a:stCxn id="11" idx="1"/>
            <a:endCxn id="9" idx="3"/>
          </p:cNvCxnSpPr>
          <p:nvPr/>
        </p:nvCxnSpPr>
        <p:spPr>
          <a:xfrm flipH="1">
            <a:off x="7802880" y="1564639"/>
            <a:ext cx="31929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00893104-6E64-3C0A-6158-F663CE9BD57A}"/>
              </a:ext>
            </a:extLst>
          </p:cNvPr>
          <p:cNvCxnSpPr>
            <a:stCxn id="12" idx="1"/>
            <a:endCxn id="7" idx="3"/>
          </p:cNvCxnSpPr>
          <p:nvPr/>
        </p:nvCxnSpPr>
        <p:spPr>
          <a:xfrm flipH="1">
            <a:off x="7802880" y="2682239"/>
            <a:ext cx="318731"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AF57099C-2FAE-F6E1-A985-12D9A4425973}"/>
              </a:ext>
            </a:extLst>
          </p:cNvPr>
          <p:cNvCxnSpPr>
            <a:stCxn id="13" idx="1"/>
            <a:endCxn id="8" idx="3"/>
          </p:cNvCxnSpPr>
          <p:nvPr/>
        </p:nvCxnSpPr>
        <p:spPr>
          <a:xfrm flipH="1">
            <a:off x="7802880" y="3847627"/>
            <a:ext cx="318731" cy="38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8218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E26459-B3B8-8C9D-61EE-3912FB7E051A}"/>
              </a:ext>
            </a:extLst>
          </p:cNvPr>
          <p:cNvPicPr>
            <a:picLocks noChangeAspect="1"/>
          </p:cNvPicPr>
          <p:nvPr/>
        </p:nvPicPr>
        <p:blipFill>
          <a:blip r:embed="rId2"/>
          <a:srcRect b="40933"/>
          <a:stretch/>
        </p:blipFill>
        <p:spPr>
          <a:xfrm>
            <a:off x="4140913" y="1475435"/>
            <a:ext cx="2959269" cy="1592885"/>
          </a:xfrm>
          <a:prstGeom prst="rect">
            <a:avLst/>
          </a:prstGeom>
        </p:spPr>
      </p:pic>
      <p:sp>
        <p:nvSpPr>
          <p:cNvPr id="4" name="TextBox 3">
            <a:extLst>
              <a:ext uri="{FF2B5EF4-FFF2-40B4-BE49-F238E27FC236}">
                <a16:creationId xmlns:a16="http://schemas.microsoft.com/office/drawing/2014/main" id="{C7FF0A33-375C-DB04-BFB7-F14145C88530}"/>
              </a:ext>
            </a:extLst>
          </p:cNvPr>
          <p:cNvSpPr txBox="1"/>
          <p:nvPr/>
        </p:nvSpPr>
        <p:spPr>
          <a:xfrm>
            <a:off x="7083647" y="2445920"/>
            <a:ext cx="2071529" cy="400110"/>
          </a:xfrm>
          <a:prstGeom prst="rect">
            <a:avLst/>
          </a:prstGeom>
          <a:noFill/>
        </p:spPr>
        <p:txBody>
          <a:bodyPr wrap="none" rtlCol="0">
            <a:spAutoFit/>
          </a:bodyPr>
          <a:lstStyle/>
          <a:p>
            <a:r>
              <a:rPr lang="en-GB" sz="2000" dirty="0"/>
              <a:t>Procedure status</a:t>
            </a:r>
            <a:endParaRPr lang="en-DK" sz="2000" dirty="0"/>
          </a:p>
        </p:txBody>
      </p:sp>
      <p:sp>
        <p:nvSpPr>
          <p:cNvPr id="5" name="TextBox 4">
            <a:extLst>
              <a:ext uri="{FF2B5EF4-FFF2-40B4-BE49-F238E27FC236}">
                <a16:creationId xmlns:a16="http://schemas.microsoft.com/office/drawing/2014/main" id="{72DF0CD4-BAB7-80D8-B166-D9CE2E69EFD9}"/>
              </a:ext>
            </a:extLst>
          </p:cNvPr>
          <p:cNvSpPr txBox="1"/>
          <p:nvPr/>
        </p:nvSpPr>
        <p:spPr>
          <a:xfrm>
            <a:off x="7118620" y="1475435"/>
            <a:ext cx="2010550" cy="400110"/>
          </a:xfrm>
          <a:prstGeom prst="rect">
            <a:avLst/>
          </a:prstGeom>
          <a:noFill/>
        </p:spPr>
        <p:txBody>
          <a:bodyPr wrap="none" rtlCol="0">
            <a:spAutoFit/>
          </a:bodyPr>
          <a:lstStyle/>
          <a:p>
            <a:r>
              <a:rPr lang="en-GB" sz="2000" dirty="0"/>
              <a:t>Procedure name</a:t>
            </a:r>
            <a:endParaRPr lang="en-DK" sz="2000" dirty="0"/>
          </a:p>
        </p:txBody>
      </p:sp>
      <p:sp>
        <p:nvSpPr>
          <p:cNvPr id="6" name="TextBox 5">
            <a:extLst>
              <a:ext uri="{FF2B5EF4-FFF2-40B4-BE49-F238E27FC236}">
                <a16:creationId xmlns:a16="http://schemas.microsoft.com/office/drawing/2014/main" id="{97805529-4056-594A-535D-5603F6DF50CE}"/>
              </a:ext>
            </a:extLst>
          </p:cNvPr>
          <p:cNvSpPr txBox="1"/>
          <p:nvPr/>
        </p:nvSpPr>
        <p:spPr>
          <a:xfrm>
            <a:off x="2528457" y="1924240"/>
            <a:ext cx="1294200" cy="400110"/>
          </a:xfrm>
          <a:prstGeom prst="rect">
            <a:avLst/>
          </a:prstGeom>
          <a:noFill/>
        </p:spPr>
        <p:txBody>
          <a:bodyPr wrap="none" rtlCol="0">
            <a:spAutoFit/>
          </a:bodyPr>
          <a:lstStyle/>
          <a:p>
            <a:r>
              <a:rPr lang="en-GB" sz="2000" dirty="0"/>
              <a:t>State icon</a:t>
            </a:r>
            <a:endParaRPr lang="en-DK" sz="2000" dirty="0"/>
          </a:p>
        </p:txBody>
      </p:sp>
      <p:sp>
        <p:nvSpPr>
          <p:cNvPr id="7" name="Rectangle 6">
            <a:extLst>
              <a:ext uri="{FF2B5EF4-FFF2-40B4-BE49-F238E27FC236}">
                <a16:creationId xmlns:a16="http://schemas.microsoft.com/office/drawing/2014/main" id="{BEE4C3E2-9F0E-8AD2-6F75-DF5C32DEA1E3}"/>
              </a:ext>
            </a:extLst>
          </p:cNvPr>
          <p:cNvSpPr/>
          <p:nvPr/>
        </p:nvSpPr>
        <p:spPr>
          <a:xfrm>
            <a:off x="4570095" y="2132670"/>
            <a:ext cx="1251585" cy="21514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Rectangle 7">
            <a:extLst>
              <a:ext uri="{FF2B5EF4-FFF2-40B4-BE49-F238E27FC236}">
                <a16:creationId xmlns:a16="http://schemas.microsoft.com/office/drawing/2014/main" id="{E4D36D58-F38D-AE83-53EA-94DAF103B7A8}"/>
              </a:ext>
            </a:extLst>
          </p:cNvPr>
          <p:cNvSpPr/>
          <p:nvPr/>
        </p:nvSpPr>
        <p:spPr>
          <a:xfrm>
            <a:off x="4570095" y="1909150"/>
            <a:ext cx="1251585" cy="21514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FDECBC3C-E399-31E2-F63D-E3BEFC5FA02B}"/>
              </a:ext>
            </a:extLst>
          </p:cNvPr>
          <p:cNvSpPr/>
          <p:nvPr/>
        </p:nvSpPr>
        <p:spPr>
          <a:xfrm>
            <a:off x="4211320" y="1909150"/>
            <a:ext cx="358776" cy="43866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1" name="Straight Arrow Connector 10">
            <a:extLst>
              <a:ext uri="{FF2B5EF4-FFF2-40B4-BE49-F238E27FC236}">
                <a16:creationId xmlns:a16="http://schemas.microsoft.com/office/drawing/2014/main" id="{49D8FBEB-F1E1-ADD3-CD30-D89E8A251E6F}"/>
              </a:ext>
            </a:extLst>
          </p:cNvPr>
          <p:cNvCxnSpPr>
            <a:stCxn id="6" idx="3"/>
            <a:endCxn id="9" idx="1"/>
          </p:cNvCxnSpPr>
          <p:nvPr/>
        </p:nvCxnSpPr>
        <p:spPr>
          <a:xfrm>
            <a:off x="3822657" y="2124295"/>
            <a:ext cx="388663" cy="41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Connector: Elbow 12">
            <a:extLst>
              <a:ext uri="{FF2B5EF4-FFF2-40B4-BE49-F238E27FC236}">
                <a16:creationId xmlns:a16="http://schemas.microsoft.com/office/drawing/2014/main" id="{292F0B59-2F6A-5B82-D986-465DBF6A21B3}"/>
              </a:ext>
            </a:extLst>
          </p:cNvPr>
          <p:cNvCxnSpPr>
            <a:stCxn id="4" idx="0"/>
            <a:endCxn id="7" idx="3"/>
          </p:cNvCxnSpPr>
          <p:nvPr/>
        </p:nvCxnSpPr>
        <p:spPr>
          <a:xfrm rot="16200000" flipV="1">
            <a:off x="6867708" y="1194216"/>
            <a:ext cx="205677" cy="229773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 name="Connector: Elbow 14">
            <a:extLst>
              <a:ext uri="{FF2B5EF4-FFF2-40B4-BE49-F238E27FC236}">
                <a16:creationId xmlns:a16="http://schemas.microsoft.com/office/drawing/2014/main" id="{B21AC189-B243-1037-3625-AE3E8874C256}"/>
              </a:ext>
            </a:extLst>
          </p:cNvPr>
          <p:cNvCxnSpPr>
            <a:stCxn id="5" idx="2"/>
            <a:endCxn id="8" idx="3"/>
          </p:cNvCxnSpPr>
          <p:nvPr/>
        </p:nvCxnSpPr>
        <p:spPr>
          <a:xfrm rot="5400000">
            <a:off x="6902199" y="795027"/>
            <a:ext cx="141178" cy="230221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43963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6F7E61-6F9D-C34C-8F7E-8F2B372DE1FC}"/>
              </a:ext>
            </a:extLst>
          </p:cNvPr>
          <p:cNvPicPr>
            <a:picLocks noChangeAspect="1"/>
          </p:cNvPicPr>
          <p:nvPr/>
        </p:nvPicPr>
        <p:blipFill>
          <a:blip r:embed="rId2"/>
          <a:stretch>
            <a:fillRect/>
          </a:stretch>
        </p:blipFill>
        <p:spPr>
          <a:xfrm>
            <a:off x="3188613" y="1963471"/>
            <a:ext cx="4213964" cy="758913"/>
          </a:xfrm>
          <a:prstGeom prst="rect">
            <a:avLst/>
          </a:prstGeom>
          <a:ln>
            <a:solidFill>
              <a:schemeClr val="tx1"/>
            </a:solidFill>
          </a:ln>
        </p:spPr>
      </p:pic>
      <p:sp>
        <p:nvSpPr>
          <p:cNvPr id="4" name="Rectangle 3">
            <a:extLst>
              <a:ext uri="{FF2B5EF4-FFF2-40B4-BE49-F238E27FC236}">
                <a16:creationId xmlns:a16="http://schemas.microsoft.com/office/drawing/2014/main" id="{68178FA4-CC26-F4EC-23AD-6DB38E90ABB4}"/>
              </a:ext>
            </a:extLst>
          </p:cNvPr>
          <p:cNvSpPr/>
          <p:nvPr/>
        </p:nvSpPr>
        <p:spPr>
          <a:xfrm>
            <a:off x="3217925" y="2342926"/>
            <a:ext cx="491491" cy="300705"/>
          </a:xfrm>
          <a:prstGeom prst="rect">
            <a:avLst/>
          </a:prstGeom>
          <a:noFill/>
          <a:ln w="28575">
            <a:solidFill>
              <a:srgbClr val="FF0000">
                <a:alpha val="25098"/>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Box 4">
            <a:extLst>
              <a:ext uri="{FF2B5EF4-FFF2-40B4-BE49-F238E27FC236}">
                <a16:creationId xmlns:a16="http://schemas.microsoft.com/office/drawing/2014/main" id="{A9B6F507-7303-115C-CD49-E627BB769DAC}"/>
              </a:ext>
            </a:extLst>
          </p:cNvPr>
          <p:cNvSpPr txBox="1"/>
          <p:nvPr/>
        </p:nvSpPr>
        <p:spPr>
          <a:xfrm>
            <a:off x="4309237" y="3195723"/>
            <a:ext cx="2326214" cy="400110"/>
          </a:xfrm>
          <a:prstGeom prst="rect">
            <a:avLst/>
          </a:prstGeom>
          <a:noFill/>
        </p:spPr>
        <p:txBody>
          <a:bodyPr wrap="none" rtlCol="0">
            <a:spAutoFit/>
          </a:bodyPr>
          <a:lstStyle/>
          <a:p>
            <a:r>
              <a:rPr lang="en-GB" sz="2000" dirty="0"/>
              <a:t>Start the procedure</a:t>
            </a:r>
            <a:endParaRPr lang="en-DK" sz="2000" dirty="0"/>
          </a:p>
        </p:txBody>
      </p:sp>
      <p:sp>
        <p:nvSpPr>
          <p:cNvPr id="7" name="Rectangle 6">
            <a:extLst>
              <a:ext uri="{FF2B5EF4-FFF2-40B4-BE49-F238E27FC236}">
                <a16:creationId xmlns:a16="http://schemas.microsoft.com/office/drawing/2014/main" id="{8BDEF3B9-F514-1B59-440C-49D634FCF8E1}"/>
              </a:ext>
            </a:extLst>
          </p:cNvPr>
          <p:cNvSpPr/>
          <p:nvPr/>
        </p:nvSpPr>
        <p:spPr>
          <a:xfrm>
            <a:off x="3766565" y="2342926"/>
            <a:ext cx="491491" cy="300705"/>
          </a:xfrm>
          <a:prstGeom prst="rect">
            <a:avLst/>
          </a:prstGeom>
          <a:noFill/>
          <a:ln w="28575">
            <a:solidFill>
              <a:srgbClr val="FF0000">
                <a:alpha val="25098"/>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Rectangle 7">
            <a:extLst>
              <a:ext uri="{FF2B5EF4-FFF2-40B4-BE49-F238E27FC236}">
                <a16:creationId xmlns:a16="http://schemas.microsoft.com/office/drawing/2014/main" id="{312A4F07-051F-BEBE-70FC-F6669CE334B5}"/>
              </a:ext>
            </a:extLst>
          </p:cNvPr>
          <p:cNvSpPr/>
          <p:nvPr/>
        </p:nvSpPr>
        <p:spPr>
          <a:xfrm>
            <a:off x="4299967" y="2348154"/>
            <a:ext cx="3051809" cy="30070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C82F298D-4A99-1E3A-9AFA-F5A6979C42C8}"/>
              </a:ext>
            </a:extLst>
          </p:cNvPr>
          <p:cNvSpPr/>
          <p:nvPr/>
        </p:nvSpPr>
        <p:spPr>
          <a:xfrm>
            <a:off x="3217925" y="2002845"/>
            <a:ext cx="4133851" cy="30070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 name="TextBox 9">
            <a:extLst>
              <a:ext uri="{FF2B5EF4-FFF2-40B4-BE49-F238E27FC236}">
                <a16:creationId xmlns:a16="http://schemas.microsoft.com/office/drawing/2014/main" id="{0BA4B818-EDA5-6343-E520-B7DE2A8F5AD9}"/>
              </a:ext>
            </a:extLst>
          </p:cNvPr>
          <p:cNvSpPr txBox="1"/>
          <p:nvPr/>
        </p:nvSpPr>
        <p:spPr>
          <a:xfrm>
            <a:off x="4309237" y="2857169"/>
            <a:ext cx="2397772" cy="400110"/>
          </a:xfrm>
          <a:prstGeom prst="rect">
            <a:avLst/>
          </a:prstGeom>
          <a:noFill/>
        </p:spPr>
        <p:txBody>
          <a:bodyPr wrap="none" rtlCol="0">
            <a:spAutoFit/>
          </a:bodyPr>
          <a:lstStyle/>
          <a:p>
            <a:r>
              <a:rPr lang="en-GB" sz="2000" dirty="0"/>
              <a:t>Abort the procedure</a:t>
            </a:r>
            <a:endParaRPr lang="en-DK" sz="2000" dirty="0"/>
          </a:p>
        </p:txBody>
      </p:sp>
      <p:sp>
        <p:nvSpPr>
          <p:cNvPr id="11" name="TextBox 10">
            <a:extLst>
              <a:ext uri="{FF2B5EF4-FFF2-40B4-BE49-F238E27FC236}">
                <a16:creationId xmlns:a16="http://schemas.microsoft.com/office/drawing/2014/main" id="{AC984CE6-97EC-26CC-0A58-92475A5D65F6}"/>
              </a:ext>
            </a:extLst>
          </p:cNvPr>
          <p:cNvSpPr txBox="1"/>
          <p:nvPr/>
        </p:nvSpPr>
        <p:spPr>
          <a:xfrm>
            <a:off x="7761359" y="2293223"/>
            <a:ext cx="2071529" cy="400110"/>
          </a:xfrm>
          <a:prstGeom prst="rect">
            <a:avLst/>
          </a:prstGeom>
          <a:noFill/>
        </p:spPr>
        <p:txBody>
          <a:bodyPr wrap="none" rtlCol="0">
            <a:spAutoFit/>
          </a:bodyPr>
          <a:lstStyle/>
          <a:p>
            <a:r>
              <a:rPr lang="en-GB" sz="2000" dirty="0"/>
              <a:t>Procedure status</a:t>
            </a:r>
            <a:endParaRPr lang="en-DK" sz="2000" dirty="0"/>
          </a:p>
        </p:txBody>
      </p:sp>
      <p:sp>
        <p:nvSpPr>
          <p:cNvPr id="12" name="TextBox 11">
            <a:extLst>
              <a:ext uri="{FF2B5EF4-FFF2-40B4-BE49-F238E27FC236}">
                <a16:creationId xmlns:a16="http://schemas.microsoft.com/office/drawing/2014/main" id="{B8579EC0-DC7B-CDAD-58F2-76129D27D595}"/>
              </a:ext>
            </a:extLst>
          </p:cNvPr>
          <p:cNvSpPr txBox="1"/>
          <p:nvPr/>
        </p:nvSpPr>
        <p:spPr>
          <a:xfrm>
            <a:off x="7761359" y="1953143"/>
            <a:ext cx="2010550" cy="400110"/>
          </a:xfrm>
          <a:prstGeom prst="rect">
            <a:avLst/>
          </a:prstGeom>
          <a:noFill/>
        </p:spPr>
        <p:txBody>
          <a:bodyPr wrap="none" rtlCol="0">
            <a:spAutoFit/>
          </a:bodyPr>
          <a:lstStyle/>
          <a:p>
            <a:r>
              <a:rPr lang="en-GB" sz="2000" dirty="0"/>
              <a:t>Procedure name</a:t>
            </a:r>
            <a:endParaRPr lang="en-DK" sz="2000" dirty="0"/>
          </a:p>
        </p:txBody>
      </p:sp>
      <p:cxnSp>
        <p:nvCxnSpPr>
          <p:cNvPr id="14" name="Connector: Elbow 13">
            <a:extLst>
              <a:ext uri="{FF2B5EF4-FFF2-40B4-BE49-F238E27FC236}">
                <a16:creationId xmlns:a16="http://schemas.microsoft.com/office/drawing/2014/main" id="{2E76829F-2FD8-7431-59F2-F474D1E03AE1}"/>
              </a:ext>
            </a:extLst>
          </p:cNvPr>
          <p:cNvCxnSpPr>
            <a:stCxn id="10" idx="1"/>
            <a:endCxn id="7" idx="2"/>
          </p:cNvCxnSpPr>
          <p:nvPr/>
        </p:nvCxnSpPr>
        <p:spPr>
          <a:xfrm rot="10800000">
            <a:off x="4012311" y="2643632"/>
            <a:ext cx="296926" cy="41359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E9315CFB-E944-3C7E-8892-256B97474348}"/>
              </a:ext>
            </a:extLst>
          </p:cNvPr>
          <p:cNvCxnSpPr>
            <a:stCxn id="5" idx="1"/>
            <a:endCxn id="4" idx="2"/>
          </p:cNvCxnSpPr>
          <p:nvPr/>
        </p:nvCxnSpPr>
        <p:spPr>
          <a:xfrm rot="10800000">
            <a:off x="3463671" y="2643632"/>
            <a:ext cx="845566" cy="75214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6E37C1D8-C983-C18C-C7F5-1BE57E4E5D0E}"/>
              </a:ext>
            </a:extLst>
          </p:cNvPr>
          <p:cNvCxnSpPr>
            <a:stCxn id="12" idx="1"/>
            <a:endCxn id="9" idx="3"/>
          </p:cNvCxnSpPr>
          <p:nvPr/>
        </p:nvCxnSpPr>
        <p:spPr>
          <a:xfrm flipH="1">
            <a:off x="7351776" y="2153198"/>
            <a:ext cx="4095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80BE17BF-1B3C-21FB-6F0C-1710D1D18F33}"/>
              </a:ext>
            </a:extLst>
          </p:cNvPr>
          <p:cNvCxnSpPr>
            <a:stCxn id="11" idx="1"/>
            <a:endCxn id="8" idx="3"/>
          </p:cNvCxnSpPr>
          <p:nvPr/>
        </p:nvCxnSpPr>
        <p:spPr>
          <a:xfrm flipH="1">
            <a:off x="7351776" y="2493278"/>
            <a:ext cx="409583" cy="52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27871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AECC76-39FC-3273-2E51-504105CE5803}"/>
              </a:ext>
            </a:extLst>
          </p:cNvPr>
          <p:cNvPicPr>
            <a:picLocks noChangeAspect="1"/>
          </p:cNvPicPr>
          <p:nvPr/>
        </p:nvPicPr>
        <p:blipFill>
          <a:blip r:embed="rId2"/>
          <a:stretch>
            <a:fillRect/>
          </a:stretch>
        </p:blipFill>
        <p:spPr>
          <a:xfrm>
            <a:off x="2492283" y="2579277"/>
            <a:ext cx="5858693" cy="1333686"/>
          </a:xfrm>
          <a:prstGeom prst="rect">
            <a:avLst/>
          </a:prstGeom>
        </p:spPr>
      </p:pic>
      <p:sp>
        <p:nvSpPr>
          <p:cNvPr id="6" name="Rectangle 5">
            <a:extLst>
              <a:ext uri="{FF2B5EF4-FFF2-40B4-BE49-F238E27FC236}">
                <a16:creationId xmlns:a16="http://schemas.microsoft.com/office/drawing/2014/main" id="{97AA444C-0807-5311-CAC6-5CEFF45BCF41}"/>
              </a:ext>
            </a:extLst>
          </p:cNvPr>
          <p:cNvSpPr/>
          <p:nvPr/>
        </p:nvSpPr>
        <p:spPr>
          <a:xfrm>
            <a:off x="2549433" y="2665785"/>
            <a:ext cx="5801543" cy="763215"/>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 name="Rectangle 6">
            <a:extLst>
              <a:ext uri="{FF2B5EF4-FFF2-40B4-BE49-F238E27FC236}">
                <a16:creationId xmlns:a16="http://schemas.microsoft.com/office/drawing/2014/main" id="{FFFC3C9D-4907-D6AF-B68A-7E826133AF96}"/>
              </a:ext>
            </a:extLst>
          </p:cNvPr>
          <p:cNvSpPr/>
          <p:nvPr/>
        </p:nvSpPr>
        <p:spPr>
          <a:xfrm>
            <a:off x="2549433" y="3429001"/>
            <a:ext cx="4914357" cy="439420"/>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Rectangle 7">
            <a:extLst>
              <a:ext uri="{FF2B5EF4-FFF2-40B4-BE49-F238E27FC236}">
                <a16:creationId xmlns:a16="http://schemas.microsoft.com/office/drawing/2014/main" id="{85E73013-3359-C985-F058-23CB947B0AD5}"/>
              </a:ext>
            </a:extLst>
          </p:cNvPr>
          <p:cNvSpPr/>
          <p:nvPr/>
        </p:nvSpPr>
        <p:spPr>
          <a:xfrm>
            <a:off x="7463790" y="3429000"/>
            <a:ext cx="887186" cy="439421"/>
          </a:xfrm>
          <a:prstGeom prst="rect">
            <a:avLst/>
          </a:prstGeom>
          <a:noFill/>
          <a:ln w="28575">
            <a:solidFill>
              <a:srgbClr val="FF0000">
                <a:alpha val="25098"/>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TextBox 8">
            <a:extLst>
              <a:ext uri="{FF2B5EF4-FFF2-40B4-BE49-F238E27FC236}">
                <a16:creationId xmlns:a16="http://schemas.microsoft.com/office/drawing/2014/main" id="{8A06C1FA-6A14-177C-3818-2E98ADB32A4C}"/>
              </a:ext>
            </a:extLst>
          </p:cNvPr>
          <p:cNvSpPr txBox="1"/>
          <p:nvPr/>
        </p:nvSpPr>
        <p:spPr>
          <a:xfrm>
            <a:off x="8528499" y="4022017"/>
            <a:ext cx="2522550" cy="400110"/>
          </a:xfrm>
          <a:prstGeom prst="rect">
            <a:avLst/>
          </a:prstGeom>
          <a:noFill/>
        </p:spPr>
        <p:txBody>
          <a:bodyPr wrap="none" rtlCol="0">
            <a:spAutoFit/>
          </a:bodyPr>
          <a:lstStyle/>
          <a:p>
            <a:r>
              <a:rPr lang="en-GB" sz="2000" dirty="0"/>
              <a:t>Add manual log entry</a:t>
            </a:r>
            <a:endParaRPr lang="en-DK" sz="2000" dirty="0"/>
          </a:p>
        </p:txBody>
      </p:sp>
      <p:sp>
        <p:nvSpPr>
          <p:cNvPr id="10" name="TextBox 9">
            <a:extLst>
              <a:ext uri="{FF2B5EF4-FFF2-40B4-BE49-F238E27FC236}">
                <a16:creationId xmlns:a16="http://schemas.microsoft.com/office/drawing/2014/main" id="{D6CE4BCE-0276-0844-61EB-DB4C2BE86607}"/>
              </a:ext>
            </a:extLst>
          </p:cNvPr>
          <p:cNvSpPr txBox="1"/>
          <p:nvPr/>
        </p:nvSpPr>
        <p:spPr>
          <a:xfrm>
            <a:off x="8718999" y="2847338"/>
            <a:ext cx="1398781" cy="400110"/>
          </a:xfrm>
          <a:prstGeom prst="rect">
            <a:avLst/>
          </a:prstGeom>
          <a:noFill/>
        </p:spPr>
        <p:txBody>
          <a:bodyPr wrap="none" rtlCol="0">
            <a:spAutoFit/>
          </a:bodyPr>
          <a:lstStyle/>
          <a:p>
            <a:r>
              <a:rPr lang="en-GB" sz="2000" dirty="0"/>
              <a:t>Log entries</a:t>
            </a:r>
            <a:endParaRPr lang="en-DK" sz="2000" dirty="0"/>
          </a:p>
        </p:txBody>
      </p:sp>
      <p:sp>
        <p:nvSpPr>
          <p:cNvPr id="11" name="TextBox 10">
            <a:extLst>
              <a:ext uri="{FF2B5EF4-FFF2-40B4-BE49-F238E27FC236}">
                <a16:creationId xmlns:a16="http://schemas.microsoft.com/office/drawing/2014/main" id="{D0C87748-EAD4-003E-CD3D-DC4178FC71A8}"/>
              </a:ext>
            </a:extLst>
          </p:cNvPr>
          <p:cNvSpPr txBox="1"/>
          <p:nvPr/>
        </p:nvSpPr>
        <p:spPr>
          <a:xfrm>
            <a:off x="2749501" y="4022017"/>
            <a:ext cx="2014398" cy="400110"/>
          </a:xfrm>
          <a:prstGeom prst="rect">
            <a:avLst/>
          </a:prstGeom>
          <a:noFill/>
        </p:spPr>
        <p:txBody>
          <a:bodyPr wrap="none" rtlCol="0">
            <a:spAutoFit/>
          </a:bodyPr>
          <a:lstStyle/>
          <a:p>
            <a:r>
              <a:rPr lang="en-GB" sz="2000" dirty="0"/>
              <a:t>Manual log entry</a:t>
            </a:r>
            <a:endParaRPr lang="en-DK" sz="2000" dirty="0"/>
          </a:p>
        </p:txBody>
      </p:sp>
      <p:cxnSp>
        <p:nvCxnSpPr>
          <p:cNvPr id="13" name="Connector: Elbow 12">
            <a:extLst>
              <a:ext uri="{FF2B5EF4-FFF2-40B4-BE49-F238E27FC236}">
                <a16:creationId xmlns:a16="http://schemas.microsoft.com/office/drawing/2014/main" id="{41D89B25-7341-2779-DFA6-B84D340C73C7}"/>
              </a:ext>
            </a:extLst>
          </p:cNvPr>
          <p:cNvCxnSpPr>
            <a:stCxn id="11" idx="3"/>
            <a:endCxn id="7" idx="2"/>
          </p:cNvCxnSpPr>
          <p:nvPr/>
        </p:nvCxnSpPr>
        <p:spPr>
          <a:xfrm flipV="1">
            <a:off x="4763899" y="3868421"/>
            <a:ext cx="242713" cy="35365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 name="Connector: Elbow 14">
            <a:extLst>
              <a:ext uri="{FF2B5EF4-FFF2-40B4-BE49-F238E27FC236}">
                <a16:creationId xmlns:a16="http://schemas.microsoft.com/office/drawing/2014/main" id="{20B94F5E-9CAE-5E69-7ECC-4686BA21C316}"/>
              </a:ext>
            </a:extLst>
          </p:cNvPr>
          <p:cNvCxnSpPr>
            <a:stCxn id="9" idx="1"/>
            <a:endCxn id="8" idx="2"/>
          </p:cNvCxnSpPr>
          <p:nvPr/>
        </p:nvCxnSpPr>
        <p:spPr>
          <a:xfrm rot="10800000">
            <a:off x="7907383" y="3868422"/>
            <a:ext cx="621116" cy="35365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4FB3BD7E-FC88-E276-41B3-73814FBF9847}"/>
              </a:ext>
            </a:extLst>
          </p:cNvPr>
          <p:cNvCxnSpPr>
            <a:stCxn id="10" idx="1"/>
            <a:endCxn id="6" idx="3"/>
          </p:cNvCxnSpPr>
          <p:nvPr/>
        </p:nvCxnSpPr>
        <p:spPr>
          <a:xfrm flipH="1">
            <a:off x="8350976" y="3047393"/>
            <a:ext cx="3680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05650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Prefer not to answer.&#10;&#10;AI-generated content may be incorrect.">
            <a:extLst>
              <a:ext uri="{FF2B5EF4-FFF2-40B4-BE49-F238E27FC236}">
                <a16:creationId xmlns:a16="http://schemas.microsoft.com/office/drawing/2014/main" id="{DAAD927F-7578-4E9D-C86B-E2A715AE3B51}"/>
              </a:ext>
            </a:extLst>
          </p:cNvPr>
          <p:cNvPicPr>
            <a:picLocks noChangeAspect="1"/>
          </p:cNvPicPr>
          <p:nvPr/>
        </p:nvPicPr>
        <p:blipFill>
          <a:blip r:embed="rId2"/>
          <a:stretch>
            <a:fillRect/>
          </a:stretch>
        </p:blipFill>
        <p:spPr>
          <a:xfrm>
            <a:off x="2758819" y="2139808"/>
            <a:ext cx="5749153" cy="2026577"/>
          </a:xfrm>
          <a:prstGeom prst="rect">
            <a:avLst/>
          </a:prstGeom>
        </p:spPr>
      </p:pic>
      <p:sp>
        <p:nvSpPr>
          <p:cNvPr id="2" name="Rectangle 1">
            <a:extLst>
              <a:ext uri="{FF2B5EF4-FFF2-40B4-BE49-F238E27FC236}">
                <a16:creationId xmlns:a16="http://schemas.microsoft.com/office/drawing/2014/main" id="{82E0F893-B3C3-6F8C-851E-25D2435BF3CB}"/>
              </a:ext>
            </a:extLst>
          </p:cNvPr>
          <p:cNvSpPr/>
          <p:nvPr/>
        </p:nvSpPr>
        <p:spPr>
          <a:xfrm>
            <a:off x="2758819" y="3838576"/>
            <a:ext cx="5749153" cy="327810"/>
          </a:xfrm>
          <a:prstGeom prst="rect">
            <a:avLst/>
          </a:prstGeom>
          <a:noFill/>
          <a:ln w="28575">
            <a:solidFill>
              <a:srgbClr val="FF0000">
                <a:alpha val="25098"/>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TextBox 3">
            <a:extLst>
              <a:ext uri="{FF2B5EF4-FFF2-40B4-BE49-F238E27FC236}">
                <a16:creationId xmlns:a16="http://schemas.microsoft.com/office/drawing/2014/main" id="{7E042ABF-31C8-BA80-13BB-6AFB89407304}"/>
              </a:ext>
            </a:extLst>
          </p:cNvPr>
          <p:cNvSpPr txBox="1"/>
          <p:nvPr/>
        </p:nvSpPr>
        <p:spPr>
          <a:xfrm>
            <a:off x="6026000" y="4288938"/>
            <a:ext cx="3174908" cy="400110"/>
          </a:xfrm>
          <a:prstGeom prst="rect">
            <a:avLst/>
          </a:prstGeom>
          <a:noFill/>
        </p:spPr>
        <p:txBody>
          <a:bodyPr wrap="none" rtlCol="0">
            <a:spAutoFit/>
          </a:bodyPr>
          <a:lstStyle/>
          <a:p>
            <a:r>
              <a:rPr lang="en-GB" sz="2000" dirty="0"/>
              <a:t>Manual procedure controls</a:t>
            </a:r>
            <a:endParaRPr lang="en-DK" sz="2000" dirty="0"/>
          </a:p>
        </p:txBody>
      </p:sp>
      <p:cxnSp>
        <p:nvCxnSpPr>
          <p:cNvPr id="5" name="Connector: Elbow 4">
            <a:extLst>
              <a:ext uri="{FF2B5EF4-FFF2-40B4-BE49-F238E27FC236}">
                <a16:creationId xmlns:a16="http://schemas.microsoft.com/office/drawing/2014/main" id="{B37AF7C9-738D-7D77-F12C-6B84BAF44C69}"/>
              </a:ext>
            </a:extLst>
          </p:cNvPr>
          <p:cNvCxnSpPr>
            <a:cxnSpLocks/>
            <a:stCxn id="4" idx="1"/>
            <a:endCxn id="2" idx="2"/>
          </p:cNvCxnSpPr>
          <p:nvPr/>
        </p:nvCxnSpPr>
        <p:spPr>
          <a:xfrm rot="10800000">
            <a:off x="5633396" y="4166387"/>
            <a:ext cx="392604" cy="32260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10364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5D5D2C-1E0F-BA25-62E2-E29F4E3A69B0}"/>
              </a:ext>
            </a:extLst>
          </p:cNvPr>
          <p:cNvPicPr>
            <a:picLocks noChangeAspect="1"/>
          </p:cNvPicPr>
          <p:nvPr/>
        </p:nvPicPr>
        <p:blipFill>
          <a:blip r:embed="rId2"/>
          <a:stretch>
            <a:fillRect/>
          </a:stretch>
        </p:blipFill>
        <p:spPr>
          <a:xfrm>
            <a:off x="1139321" y="1029225"/>
            <a:ext cx="8582779" cy="4468605"/>
          </a:xfrm>
          <a:prstGeom prst="rect">
            <a:avLst/>
          </a:prstGeom>
        </p:spPr>
      </p:pic>
    </p:spTree>
    <p:extLst>
      <p:ext uri="{BB962C8B-B14F-4D97-AF65-F5344CB8AC3E}">
        <p14:creationId xmlns:p14="http://schemas.microsoft.com/office/powerpoint/2010/main" val="2041255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97D7BB-5FA3-768D-FF6E-1F595CCE18E7}"/>
              </a:ext>
            </a:extLst>
          </p:cNvPr>
          <p:cNvPicPr>
            <a:picLocks noChangeAspect="1"/>
          </p:cNvPicPr>
          <p:nvPr/>
        </p:nvPicPr>
        <p:blipFill>
          <a:blip r:embed="rId3"/>
          <a:stretch>
            <a:fillRect/>
          </a:stretch>
        </p:blipFill>
        <p:spPr>
          <a:xfrm>
            <a:off x="1335759" y="2141615"/>
            <a:ext cx="3486072" cy="2396096"/>
          </a:xfrm>
          <a:prstGeom prst="rect">
            <a:avLst/>
          </a:prstGeom>
        </p:spPr>
      </p:pic>
      <p:pic>
        <p:nvPicPr>
          <p:cNvPr id="7" name="Picture 6">
            <a:extLst>
              <a:ext uri="{FF2B5EF4-FFF2-40B4-BE49-F238E27FC236}">
                <a16:creationId xmlns:a16="http://schemas.microsoft.com/office/drawing/2014/main" id="{E8A07562-67AE-B90E-225F-143CA739C08D}"/>
              </a:ext>
            </a:extLst>
          </p:cNvPr>
          <p:cNvPicPr>
            <a:picLocks noChangeAspect="1"/>
          </p:cNvPicPr>
          <p:nvPr/>
        </p:nvPicPr>
        <p:blipFill>
          <a:blip r:embed="rId4"/>
          <a:stretch>
            <a:fillRect/>
          </a:stretch>
        </p:blipFill>
        <p:spPr>
          <a:xfrm>
            <a:off x="5947410" y="2141615"/>
            <a:ext cx="4351020" cy="2396096"/>
          </a:xfrm>
          <a:prstGeom prst="rect">
            <a:avLst/>
          </a:prstGeom>
          <a:ln>
            <a:solidFill>
              <a:schemeClr val="tx1"/>
            </a:solidFill>
          </a:ln>
        </p:spPr>
      </p:pic>
      <p:sp>
        <p:nvSpPr>
          <p:cNvPr id="8" name="TextBox 7">
            <a:extLst>
              <a:ext uri="{FF2B5EF4-FFF2-40B4-BE49-F238E27FC236}">
                <a16:creationId xmlns:a16="http://schemas.microsoft.com/office/drawing/2014/main" id="{A9A9BA76-154B-6625-BCCC-4F322E964E88}"/>
              </a:ext>
            </a:extLst>
          </p:cNvPr>
          <p:cNvSpPr txBox="1"/>
          <p:nvPr/>
        </p:nvSpPr>
        <p:spPr>
          <a:xfrm>
            <a:off x="1335759" y="1668840"/>
            <a:ext cx="1771767" cy="400110"/>
          </a:xfrm>
          <a:prstGeom prst="rect">
            <a:avLst/>
          </a:prstGeom>
          <a:noFill/>
        </p:spPr>
        <p:txBody>
          <a:bodyPr wrap="none" lIns="0" rtlCol="0">
            <a:spAutoFit/>
          </a:bodyPr>
          <a:lstStyle/>
          <a:p>
            <a:r>
              <a:rPr lang="en-GB" sz="2000" dirty="0"/>
              <a:t>Primary Screen</a:t>
            </a:r>
            <a:endParaRPr lang="en-DK" sz="2000" dirty="0"/>
          </a:p>
        </p:txBody>
      </p:sp>
      <p:sp>
        <p:nvSpPr>
          <p:cNvPr id="9" name="TextBox 8">
            <a:extLst>
              <a:ext uri="{FF2B5EF4-FFF2-40B4-BE49-F238E27FC236}">
                <a16:creationId xmlns:a16="http://schemas.microsoft.com/office/drawing/2014/main" id="{BF0637E5-F674-88CC-7A0E-14E0124AE20C}"/>
              </a:ext>
            </a:extLst>
          </p:cNvPr>
          <p:cNvSpPr txBox="1"/>
          <p:nvPr/>
        </p:nvSpPr>
        <p:spPr>
          <a:xfrm>
            <a:off x="5947410" y="1668840"/>
            <a:ext cx="4395819" cy="400110"/>
          </a:xfrm>
          <a:prstGeom prst="rect">
            <a:avLst/>
          </a:prstGeom>
          <a:noFill/>
        </p:spPr>
        <p:txBody>
          <a:bodyPr wrap="none" lIns="0" rtlCol="0">
            <a:spAutoFit/>
          </a:bodyPr>
          <a:lstStyle/>
          <a:p>
            <a:r>
              <a:rPr lang="en-GB" sz="2000" dirty="0"/>
              <a:t>Secondary Screen (LabBench Display)</a:t>
            </a:r>
            <a:endParaRPr lang="en-DK" sz="2000" dirty="0"/>
          </a:p>
        </p:txBody>
      </p:sp>
    </p:spTree>
    <p:extLst>
      <p:ext uri="{BB962C8B-B14F-4D97-AF65-F5344CB8AC3E}">
        <p14:creationId xmlns:p14="http://schemas.microsoft.com/office/powerpoint/2010/main" val="4155984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7247FC6D-D073-702D-6F12-FE7BD91AE410}"/>
              </a:ext>
            </a:extLst>
          </p:cNvPr>
          <p:cNvGrpSpPr/>
          <p:nvPr/>
        </p:nvGrpSpPr>
        <p:grpSpPr>
          <a:xfrm>
            <a:off x="3444432" y="1904646"/>
            <a:ext cx="5710201" cy="518160"/>
            <a:chOff x="3444432" y="1904646"/>
            <a:chExt cx="5710201" cy="518160"/>
          </a:xfrm>
        </p:grpSpPr>
        <p:pic>
          <p:nvPicPr>
            <p:cNvPr id="10" name="Picture 9">
              <a:extLst>
                <a:ext uri="{FF2B5EF4-FFF2-40B4-BE49-F238E27FC236}">
                  <a16:creationId xmlns:a16="http://schemas.microsoft.com/office/drawing/2014/main" id="{5E7841D2-9076-1115-3E04-ACB5B824EBE0}"/>
                </a:ext>
              </a:extLst>
            </p:cNvPr>
            <p:cNvPicPr>
              <a:picLocks noChangeAspect="1"/>
            </p:cNvPicPr>
            <p:nvPr/>
          </p:nvPicPr>
          <p:blipFill>
            <a:blip r:embed="rId3"/>
            <a:srcRect l="14827" t="17624" r="13693" b="5555"/>
            <a:stretch/>
          </p:blipFill>
          <p:spPr>
            <a:xfrm>
              <a:off x="3444432" y="1904646"/>
              <a:ext cx="539750" cy="518160"/>
            </a:xfrm>
            <a:prstGeom prst="rect">
              <a:avLst/>
            </a:prstGeom>
          </p:spPr>
        </p:pic>
        <p:sp>
          <p:nvSpPr>
            <p:cNvPr id="12" name="TextBox 11">
              <a:extLst>
                <a:ext uri="{FF2B5EF4-FFF2-40B4-BE49-F238E27FC236}">
                  <a16:creationId xmlns:a16="http://schemas.microsoft.com/office/drawing/2014/main" id="{447F1641-F963-0C87-504A-6551B11AC9F9}"/>
                </a:ext>
              </a:extLst>
            </p:cNvPr>
            <p:cNvSpPr txBox="1"/>
            <p:nvPr/>
          </p:nvSpPr>
          <p:spPr>
            <a:xfrm>
              <a:off x="4122775" y="1904646"/>
              <a:ext cx="5031858" cy="477054"/>
            </a:xfrm>
            <a:prstGeom prst="rect">
              <a:avLst/>
            </a:prstGeom>
            <a:noFill/>
          </p:spPr>
          <p:txBody>
            <a:bodyPr wrap="square" tIns="0">
              <a:spAutoFit/>
            </a:bodyPr>
            <a:lstStyle/>
            <a:p>
              <a:r>
                <a:rPr lang="en-GB" sz="1400" dirty="0">
                  <a:effectLst/>
                  <a:latin typeface="Calibri" panose="020F0502020204030204" pitchFamily="34" charset="0"/>
                  <a:ea typeface="Times New Roman" panose="02020603050405020304" pitchFamily="18" charset="0"/>
                  <a:cs typeface="Times New Roman" panose="02020603050405020304" pitchFamily="18" charset="0"/>
                </a:rPr>
                <a:t>The Protocol tab is only visible if a Protocol Description is available for an experiment. </a:t>
              </a:r>
              <a:endParaRPr lang="en-DK" sz="1400" dirty="0"/>
            </a:p>
          </p:txBody>
        </p:sp>
      </p:grpSp>
      <p:grpSp>
        <p:nvGrpSpPr>
          <p:cNvPr id="20" name="Group 19">
            <a:extLst>
              <a:ext uri="{FF2B5EF4-FFF2-40B4-BE49-F238E27FC236}">
                <a16:creationId xmlns:a16="http://schemas.microsoft.com/office/drawing/2014/main" id="{B7DB8CD5-E780-9A6C-538E-88D8FE3EE2DA}"/>
              </a:ext>
            </a:extLst>
          </p:cNvPr>
          <p:cNvGrpSpPr/>
          <p:nvPr/>
        </p:nvGrpSpPr>
        <p:grpSpPr>
          <a:xfrm>
            <a:off x="3444432" y="2606392"/>
            <a:ext cx="5710201" cy="518160"/>
            <a:chOff x="3444432" y="2606393"/>
            <a:chExt cx="5710201" cy="518160"/>
          </a:xfrm>
        </p:grpSpPr>
        <p:pic>
          <p:nvPicPr>
            <p:cNvPr id="13" name="Picture 12">
              <a:extLst>
                <a:ext uri="{FF2B5EF4-FFF2-40B4-BE49-F238E27FC236}">
                  <a16:creationId xmlns:a16="http://schemas.microsoft.com/office/drawing/2014/main" id="{A4B20A22-C329-C066-81A5-4FFCB7E440A4}"/>
                </a:ext>
              </a:extLst>
            </p:cNvPr>
            <p:cNvPicPr>
              <a:picLocks noChangeAspect="1"/>
            </p:cNvPicPr>
            <p:nvPr/>
          </p:nvPicPr>
          <p:blipFill>
            <a:blip r:embed="rId4"/>
            <a:srcRect l="18694" t="19338" r="11799"/>
            <a:stretch/>
          </p:blipFill>
          <p:spPr>
            <a:xfrm>
              <a:off x="3444432" y="2606393"/>
              <a:ext cx="539750" cy="518160"/>
            </a:xfrm>
            <a:prstGeom prst="rect">
              <a:avLst/>
            </a:prstGeom>
          </p:spPr>
        </p:pic>
        <p:sp>
          <p:nvSpPr>
            <p:cNvPr id="16" name="TextBox 15">
              <a:extLst>
                <a:ext uri="{FF2B5EF4-FFF2-40B4-BE49-F238E27FC236}">
                  <a16:creationId xmlns:a16="http://schemas.microsoft.com/office/drawing/2014/main" id="{ED445D45-1CF6-BC7C-477F-29AA47F112D6}"/>
                </a:ext>
              </a:extLst>
            </p:cNvPr>
            <p:cNvSpPr txBox="1"/>
            <p:nvPr/>
          </p:nvSpPr>
          <p:spPr>
            <a:xfrm>
              <a:off x="4122775" y="2606393"/>
              <a:ext cx="5031858" cy="477054"/>
            </a:xfrm>
            <a:prstGeom prst="rect">
              <a:avLst/>
            </a:prstGeom>
            <a:noFill/>
          </p:spPr>
          <p:txBody>
            <a:bodyPr wrap="square" tIns="0">
              <a:spAutoFit/>
            </a:bodyPr>
            <a:lstStyle/>
            <a:p>
              <a:r>
                <a:rPr lang="en-GB" sz="1400" dirty="0">
                  <a:effectLst/>
                  <a:latin typeface="Calibri" panose="020F0502020204030204" pitchFamily="34" charset="0"/>
                  <a:ea typeface="Times New Roman" panose="02020603050405020304" pitchFamily="18" charset="0"/>
                  <a:cs typeface="Times New Roman" panose="02020603050405020304" pitchFamily="18" charset="0"/>
                </a:rPr>
                <a:t>The Setup tab is always visible and will allow you to configure an experiment.</a:t>
              </a:r>
              <a:endParaRPr lang="en-DK" sz="1400" dirty="0"/>
            </a:p>
          </p:txBody>
        </p:sp>
      </p:grpSp>
      <p:grpSp>
        <p:nvGrpSpPr>
          <p:cNvPr id="19" name="Group 18">
            <a:extLst>
              <a:ext uri="{FF2B5EF4-FFF2-40B4-BE49-F238E27FC236}">
                <a16:creationId xmlns:a16="http://schemas.microsoft.com/office/drawing/2014/main" id="{8EE07BA8-C0E7-584D-F2D3-22DBC3F4F674}"/>
              </a:ext>
            </a:extLst>
          </p:cNvPr>
          <p:cNvGrpSpPr/>
          <p:nvPr/>
        </p:nvGrpSpPr>
        <p:grpSpPr>
          <a:xfrm>
            <a:off x="3444432" y="3308139"/>
            <a:ext cx="5710201" cy="518160"/>
            <a:chOff x="3444432" y="3308139"/>
            <a:chExt cx="5710201" cy="518160"/>
          </a:xfrm>
        </p:grpSpPr>
        <p:pic>
          <p:nvPicPr>
            <p:cNvPr id="14" name="Picture 13">
              <a:extLst>
                <a:ext uri="{FF2B5EF4-FFF2-40B4-BE49-F238E27FC236}">
                  <a16:creationId xmlns:a16="http://schemas.microsoft.com/office/drawing/2014/main" id="{3FC053F6-23A8-419F-3EE0-13A648637D78}"/>
                </a:ext>
              </a:extLst>
            </p:cNvPr>
            <p:cNvPicPr>
              <a:picLocks noChangeAspect="1"/>
            </p:cNvPicPr>
            <p:nvPr/>
          </p:nvPicPr>
          <p:blipFill>
            <a:blip r:embed="rId5"/>
            <a:srcRect l="17607" t="18273" r="13361" b="5511"/>
            <a:stretch/>
          </p:blipFill>
          <p:spPr>
            <a:xfrm>
              <a:off x="3444432" y="3308139"/>
              <a:ext cx="539750" cy="518160"/>
            </a:xfrm>
            <a:prstGeom prst="rect">
              <a:avLst/>
            </a:prstGeom>
          </p:spPr>
        </p:pic>
        <p:sp>
          <p:nvSpPr>
            <p:cNvPr id="18" name="TextBox 17">
              <a:extLst>
                <a:ext uri="{FF2B5EF4-FFF2-40B4-BE49-F238E27FC236}">
                  <a16:creationId xmlns:a16="http://schemas.microsoft.com/office/drawing/2014/main" id="{A36784AA-E561-E930-025F-FDEC47BF288D}"/>
                </a:ext>
              </a:extLst>
            </p:cNvPr>
            <p:cNvSpPr txBox="1"/>
            <p:nvPr/>
          </p:nvSpPr>
          <p:spPr>
            <a:xfrm>
              <a:off x="4122775" y="3308139"/>
              <a:ext cx="5031858" cy="477054"/>
            </a:xfrm>
            <a:prstGeom prst="rect">
              <a:avLst/>
            </a:prstGeom>
            <a:noFill/>
          </p:spPr>
          <p:txBody>
            <a:bodyPr wrap="square" tIns="0">
              <a:spAutoFit/>
            </a:bodyPr>
            <a:lstStyle/>
            <a:p>
              <a:r>
                <a:rPr lang="en-GB" sz="1400" dirty="0">
                  <a:effectLst/>
                  <a:latin typeface="Calibri" panose="020F0502020204030204" pitchFamily="34" charset="0"/>
                  <a:ea typeface="Times New Roman" panose="02020603050405020304" pitchFamily="18" charset="0"/>
                  <a:cs typeface="Times New Roman" panose="02020603050405020304" pitchFamily="18" charset="0"/>
                </a:rPr>
                <a:t>The Data tab is always visible and will allow you to export data from the experiment and delete individual subjects.</a:t>
              </a:r>
              <a:endParaRPr lang="en-DK" sz="1400" dirty="0"/>
            </a:p>
          </p:txBody>
        </p:sp>
      </p:grpSp>
    </p:spTree>
    <p:extLst>
      <p:ext uri="{BB962C8B-B14F-4D97-AF65-F5344CB8AC3E}">
        <p14:creationId xmlns:p14="http://schemas.microsoft.com/office/powerpoint/2010/main" val="127057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CF5C29D-B388-F903-C151-4E9006D04EA8}"/>
              </a:ext>
            </a:extLst>
          </p:cNvPr>
          <p:cNvGraphicFramePr>
            <a:graphicFrameLocks noGrp="1"/>
          </p:cNvGraphicFramePr>
          <p:nvPr>
            <p:extLst>
              <p:ext uri="{D42A27DB-BD31-4B8C-83A1-F6EECF244321}">
                <p14:modId xmlns:p14="http://schemas.microsoft.com/office/powerpoint/2010/main" val="431451947"/>
              </p:ext>
            </p:extLst>
          </p:nvPr>
        </p:nvGraphicFramePr>
        <p:xfrm>
          <a:off x="2985770" y="685071"/>
          <a:ext cx="7110730" cy="4648200"/>
        </p:xfrm>
        <a:graphic>
          <a:graphicData uri="http://schemas.openxmlformats.org/drawingml/2006/table">
            <a:tbl>
              <a:tblPr firstRow="1" firstCol="1" bandRow="1"/>
              <a:tblGrid>
                <a:gridCol w="714543">
                  <a:extLst>
                    <a:ext uri="{9D8B030D-6E8A-4147-A177-3AD203B41FA5}">
                      <a16:colId xmlns:a16="http://schemas.microsoft.com/office/drawing/2014/main" val="3472162967"/>
                    </a:ext>
                  </a:extLst>
                </a:gridCol>
                <a:gridCol w="6396187">
                  <a:extLst>
                    <a:ext uri="{9D8B030D-6E8A-4147-A177-3AD203B41FA5}">
                      <a16:colId xmlns:a16="http://schemas.microsoft.com/office/drawing/2014/main" val="2590893579"/>
                    </a:ext>
                  </a:extLst>
                </a:gridCol>
              </a:tblGrid>
              <a:tr h="0">
                <a:tc>
                  <a:txBody>
                    <a:bodyPr/>
                    <a:lstStyle/>
                    <a:p>
                      <a:pPr>
                        <a:buNone/>
                      </a:pPr>
                      <a:endParaRPr lang="en-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500"/>
                        </a:spcBef>
                        <a:buNone/>
                      </a:pPr>
                      <a:r>
                        <a:rPr lang="en-US" sz="1400" b="1" dirty="0">
                          <a:effectLst/>
                          <a:latin typeface="Calibri" panose="020F0502020204030204" pitchFamily="34" charset="0"/>
                          <a:ea typeface="Calibri" panose="020F0502020204030204" pitchFamily="34" charset="0"/>
                          <a:cs typeface="Times New Roman" panose="02020603050405020304" pitchFamily="18" charset="0"/>
                        </a:rPr>
                        <a:t>Locked</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a procedure is locked it means that it depends on the results of one or more procedures that have not yet been completed. In that case the Procedure Instruction will inform you as to which procedures need to be completed to Unlock the procedure so it can be started.</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1112034"/>
                  </a:ext>
                </a:extLst>
              </a:tr>
              <a:tr h="0">
                <a:tc>
                  <a:txBody>
                    <a:bodyPr/>
                    <a:lstStyle/>
                    <a:p>
                      <a:pPr>
                        <a:buNone/>
                      </a:pPr>
                      <a:endParaRPr lang="en-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500"/>
                        </a:spcBef>
                        <a:buNone/>
                      </a:pPr>
                      <a:r>
                        <a:rPr lang="en-US" sz="1400" b="1" dirty="0">
                          <a:effectLst/>
                          <a:latin typeface="Calibri" panose="020F0502020204030204" pitchFamily="34" charset="0"/>
                          <a:ea typeface="Calibri" panose="020F0502020204030204" pitchFamily="34" charset="0"/>
                          <a:cs typeface="Times New Roman" panose="02020603050405020304" pitchFamily="18" charset="0"/>
                        </a:rPr>
                        <a:t>Unlocked</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a procedure is unlocked it means that it is ready to run but has not yet been started.</a:t>
                      </a:r>
                    </a:p>
                    <a:p>
                      <a:pPr>
                        <a:spcBef>
                          <a:spcPts val="500"/>
                        </a:spcBef>
                        <a:buNone/>
                      </a:pP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786915"/>
                  </a:ext>
                </a:extLst>
              </a:tr>
              <a:tr h="0">
                <a:tc>
                  <a:txBody>
                    <a:bodyPr/>
                    <a:lstStyle/>
                    <a:p>
                      <a:pPr>
                        <a:buNone/>
                      </a:pPr>
                      <a:endParaRPr lang="en-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500"/>
                        </a:spcBef>
                        <a:buNone/>
                      </a:pPr>
                      <a:r>
                        <a:rPr lang="en-US" sz="1400" b="1" dirty="0">
                          <a:effectLst/>
                          <a:latin typeface="Calibri" panose="020F0502020204030204" pitchFamily="34" charset="0"/>
                          <a:ea typeface="Calibri" panose="020F0502020204030204" pitchFamily="34" charset="0"/>
                          <a:cs typeface="Times New Roman" panose="02020603050405020304" pitchFamily="18" charset="0"/>
                        </a:rPr>
                        <a:t>Running</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a procedure is running it means that it has been started in the Procedure Panel and is currently active in collecting the data required for its completion.</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3166698"/>
                  </a:ext>
                </a:extLst>
              </a:tr>
              <a:tr h="0">
                <a:tc>
                  <a:txBody>
                    <a:bodyPr/>
                    <a:lstStyle/>
                    <a:p>
                      <a:pPr>
                        <a:buNone/>
                      </a:pPr>
                      <a:endParaRPr lang="en-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500"/>
                        </a:spcBef>
                        <a:buNone/>
                      </a:pPr>
                      <a:r>
                        <a:rPr lang="en-US" sz="1400" b="1" dirty="0">
                          <a:effectLst/>
                          <a:latin typeface="Calibri" panose="020F0502020204030204" pitchFamily="34" charset="0"/>
                          <a:ea typeface="Calibri" panose="020F0502020204030204" pitchFamily="34" charset="0"/>
                          <a:cs typeface="Times New Roman" panose="02020603050405020304" pitchFamily="18" charset="0"/>
                        </a:rPr>
                        <a:t>Completed</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a procedure has been completed it means that it has been successfully run and that the required data set has been collected. </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8262564"/>
                  </a:ext>
                </a:extLst>
              </a:tr>
              <a:tr h="0">
                <a:tc>
                  <a:txBody>
                    <a:bodyPr/>
                    <a:lstStyle/>
                    <a:p>
                      <a:pPr>
                        <a:buNone/>
                      </a:pPr>
                      <a:endParaRPr lang="en-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500"/>
                        </a:spcBef>
                        <a:buNone/>
                      </a:pPr>
                      <a:r>
                        <a:rPr lang="en-US" sz="1400" b="1" dirty="0">
                          <a:effectLst/>
                          <a:latin typeface="Calibri" panose="020F0502020204030204" pitchFamily="34" charset="0"/>
                          <a:ea typeface="Calibri" panose="020F0502020204030204" pitchFamily="34" charset="0"/>
                          <a:cs typeface="Times New Roman" panose="02020603050405020304" pitchFamily="18" charset="0"/>
                        </a:rPr>
                        <a:t>Excluded</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a procedure is excluded, it means that results of previously executed procedures mean that it is impossible to run the procedure. In the present protocol this is the case if the subject does not fulfill the inclusion criteria for the inclusion in the study.</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3528972"/>
                  </a:ext>
                </a:extLst>
              </a:tr>
            </a:tbl>
          </a:graphicData>
        </a:graphic>
      </p:graphicFrame>
      <p:pic>
        <p:nvPicPr>
          <p:cNvPr id="1029" name="Picture 1065389692">
            <a:extLst>
              <a:ext uri="{FF2B5EF4-FFF2-40B4-BE49-F238E27FC236}">
                <a16:creationId xmlns:a16="http://schemas.microsoft.com/office/drawing/2014/main" id="{7AA5E159-628A-8FEE-A3A3-D0BE4F2B0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5770" y="772253"/>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119237972">
            <a:extLst>
              <a:ext uri="{FF2B5EF4-FFF2-40B4-BE49-F238E27FC236}">
                <a16:creationId xmlns:a16="http://schemas.microsoft.com/office/drawing/2014/main" id="{DD25722A-1881-47D7-92C2-6B5255961F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5770" y="1958488"/>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1782514166">
            <a:extLst>
              <a:ext uri="{FF2B5EF4-FFF2-40B4-BE49-F238E27FC236}">
                <a16:creationId xmlns:a16="http://schemas.microsoft.com/office/drawing/2014/main" id="{1A49EB23-6910-CE42-D70D-5F4FCB0546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5770" y="2874723"/>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115774072">
            <a:extLst>
              <a:ext uri="{FF2B5EF4-FFF2-40B4-BE49-F238E27FC236}">
                <a16:creationId xmlns:a16="http://schemas.microsoft.com/office/drawing/2014/main" id="{6E6F98C5-2875-787B-184A-97D3C48882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5770" y="3520958"/>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347732353">
            <a:extLst>
              <a:ext uri="{FF2B5EF4-FFF2-40B4-BE49-F238E27FC236}">
                <a16:creationId xmlns:a16="http://schemas.microsoft.com/office/drawing/2014/main" id="{34C928CB-9EF6-E7E2-018E-D814AAD48E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5770" y="4283203"/>
            <a:ext cx="540000" cy="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033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1D3B74-42B4-A706-2BBC-41209671F8B5}"/>
              </a:ext>
            </a:extLst>
          </p:cNvPr>
          <p:cNvPicPr>
            <a:picLocks noChangeAspect="1"/>
          </p:cNvPicPr>
          <p:nvPr/>
        </p:nvPicPr>
        <p:blipFill rotWithShape="1">
          <a:blip r:embed="rId3">
            <a:extLst>
              <a:ext uri="{28A0092B-C50C-407E-A947-70E740481C1C}">
                <a14:useLocalDpi xmlns:a14="http://schemas.microsoft.com/office/drawing/2010/main" val="0"/>
              </a:ext>
            </a:extLst>
          </a:blip>
          <a:srcRect r="5118"/>
          <a:stretch/>
        </p:blipFill>
        <p:spPr bwMode="auto">
          <a:xfrm>
            <a:off x="2934586" y="644222"/>
            <a:ext cx="687277" cy="482105"/>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791ED85F-CE32-1828-5677-D64F424CC520}"/>
              </a:ext>
            </a:extLst>
          </p:cNvPr>
          <p:cNvSpPr txBox="1"/>
          <p:nvPr/>
        </p:nvSpPr>
        <p:spPr>
          <a:xfrm>
            <a:off x="3910123" y="644222"/>
            <a:ext cx="6097772" cy="3382977"/>
          </a:xfrm>
          <a:prstGeom prst="rect">
            <a:avLst/>
          </a:prstGeom>
          <a:noFill/>
        </p:spPr>
        <p:txBody>
          <a:bodyPr wrap="square" tIns="0">
            <a:spAutoFit/>
          </a:bodyPr>
          <a:lstStyle/>
          <a:p>
            <a:pPr>
              <a:spcBef>
                <a:spcPts val="500"/>
              </a:spcBef>
              <a:buNone/>
            </a:pPr>
            <a:r>
              <a:rPr lang="en-US" sz="1600" b="1" dirty="0">
                <a:effectLst/>
                <a:latin typeface="Calibri" panose="020F0502020204030204" pitchFamily="34" charset="0"/>
                <a:ea typeface="Times New Roman" panose="02020603050405020304" pitchFamily="18" charset="0"/>
                <a:cs typeface="Times New Roman" panose="02020603050405020304" pitchFamily="18" charset="0"/>
              </a:rPr>
              <a:t>Start</a:t>
            </a:r>
            <a:endParaRPr lang="en-DK" sz="16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This will start the procedure, so it enters its Running state. Once a procedure starts it will run until either:</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Bef>
                <a:spcPts val="500"/>
              </a:spcBef>
              <a:buFont typeface="+mj-lt"/>
              <a:buAutoNum type="arabicPeriod"/>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The procedure has collected the required data automatically, or</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Bef>
                <a:spcPts val="500"/>
              </a:spcBef>
              <a:buFont typeface="+mj-lt"/>
              <a:buAutoNum type="arabicPeriod"/>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The operator has performed the required actions for the data collection that allow the procedure to be completed.</a:t>
            </a: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500"/>
              </a:spcBef>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If the procedure can collect the data automatically, the procedure will automatically enter the Completed State without requiring an intervention by the operator.</a:t>
            </a:r>
          </a:p>
          <a:p>
            <a:pPr>
              <a:spcBef>
                <a:spcPts val="500"/>
              </a:spcBef>
              <a:buNone/>
            </a:pPr>
            <a:endParaRPr lang="en-DK" sz="1400"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If the procedure requires manual actions by the operator to collect the required data, the </a:t>
            </a:r>
            <a:r>
              <a:rPr lang="en-US" sz="1400" dirty="0">
                <a:latin typeface="Calibri" panose="020F0502020204030204" pitchFamily="34" charset="0"/>
                <a:ea typeface="Times New Roman" panose="02020603050405020304" pitchFamily="18" charset="0"/>
                <a:cs typeface="Times New Roman" panose="02020603050405020304" pitchFamily="18" charset="0"/>
              </a:rPr>
              <a:t>procedure </a:t>
            </a: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will never enter the Completed State automatically. Instead, the procedure must be explicitly Completed by the operator with the buttons that will be available in the Procedure Controls part of the Procedure Panel.</a:t>
            </a:r>
            <a:endParaRPr lang="en-DK" sz="1400" dirty="0"/>
          </a:p>
        </p:txBody>
      </p:sp>
      <p:pic>
        <p:nvPicPr>
          <p:cNvPr id="5" name="Picture 4">
            <a:extLst>
              <a:ext uri="{FF2B5EF4-FFF2-40B4-BE49-F238E27FC236}">
                <a16:creationId xmlns:a16="http://schemas.microsoft.com/office/drawing/2014/main" id="{DA3C9BE8-2B74-A153-B256-1CFB3ADBE0C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46386" y="4201403"/>
            <a:ext cx="675477" cy="401313"/>
          </a:xfrm>
          <a:prstGeom prst="rect">
            <a:avLst/>
          </a:prstGeom>
          <a:noFill/>
          <a:ln>
            <a:noFill/>
          </a:ln>
        </p:spPr>
      </p:pic>
      <p:sp>
        <p:nvSpPr>
          <p:cNvPr id="7" name="TextBox 6">
            <a:extLst>
              <a:ext uri="{FF2B5EF4-FFF2-40B4-BE49-F238E27FC236}">
                <a16:creationId xmlns:a16="http://schemas.microsoft.com/office/drawing/2014/main" id="{14E51540-0FA8-7165-F5F3-DC9C50379351}"/>
              </a:ext>
            </a:extLst>
          </p:cNvPr>
          <p:cNvSpPr txBox="1"/>
          <p:nvPr/>
        </p:nvSpPr>
        <p:spPr>
          <a:xfrm>
            <a:off x="3910123" y="4201403"/>
            <a:ext cx="6097772" cy="1369606"/>
          </a:xfrm>
          <a:prstGeom prst="rect">
            <a:avLst/>
          </a:prstGeom>
          <a:noFill/>
        </p:spPr>
        <p:txBody>
          <a:bodyPr wrap="square" tIns="0">
            <a:spAutoFit/>
          </a:bodyPr>
          <a:lstStyle/>
          <a:p>
            <a:pPr>
              <a:spcBef>
                <a:spcPts val="500"/>
              </a:spcBef>
              <a:buNone/>
            </a:pPr>
            <a:r>
              <a:rPr lang="en-US" sz="1600" b="1" dirty="0">
                <a:effectLst/>
                <a:latin typeface="Calibri" panose="020F0502020204030204" pitchFamily="34" charset="0"/>
                <a:ea typeface="Times New Roman" panose="02020603050405020304" pitchFamily="18" charset="0"/>
                <a:cs typeface="Times New Roman" panose="02020603050405020304" pitchFamily="18" charset="0"/>
              </a:rPr>
              <a:t>Abort</a:t>
            </a:r>
            <a:endParaRPr lang="en-DK" sz="1600"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If a procedure needs to be aborted, then the Abort button must be clicked. Please be aware that this represents an abnormal situation that invalidates the currently recorded data. When the Abort button is pressed the procedure is aborted and the state of the protocol is restored to the state it had just before the procedure was started.</a:t>
            </a:r>
            <a:endParaRPr lang="en-DK" sz="1400" dirty="0"/>
          </a:p>
        </p:txBody>
      </p:sp>
    </p:spTree>
    <p:extLst>
      <p:ext uri="{BB962C8B-B14F-4D97-AF65-F5344CB8AC3E}">
        <p14:creationId xmlns:p14="http://schemas.microsoft.com/office/powerpoint/2010/main" val="2870333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1357</TotalTime>
  <Words>645</Words>
  <Application>Microsoft Office PowerPoint</Application>
  <PresentationFormat>Widescreen</PresentationFormat>
  <Paragraphs>94</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Kristian Hennings</dc:creator>
  <cp:lastModifiedBy>Kristian Hennings</cp:lastModifiedBy>
  <cp:revision>143</cp:revision>
  <dcterms:created xsi:type="dcterms:W3CDTF">2024-12-24T09:18:10Z</dcterms:created>
  <dcterms:modified xsi:type="dcterms:W3CDTF">2026-02-22T10:30:27Z</dcterms:modified>
</cp:coreProperties>
</file>